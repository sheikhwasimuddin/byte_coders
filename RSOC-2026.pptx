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8"/>
  </p:notesMasterIdLst>
  <p:sldIdLst>
    <p:sldId id="256" r:id="rId2"/>
    <p:sldId id="257" r:id="rId3"/>
    <p:sldId id="261" r:id="rId4"/>
    <p:sldId id="258" r:id="rId5"/>
    <p:sldId id="259" r:id="rId6"/>
    <p:sldId id="260" r:id="rId7"/>
  </p:sldIdLst>
  <p:sldSz cx="18288000" cy="10287000"/>
  <p:notesSz cx="6858000" cy="9144000"/>
  <p:embeddedFontLst>
    <p:embeddedFont>
      <p:font typeface="Canva Sans Bold" panose="020B0604020202020204" charset="0"/>
      <p:regular r:id="rId9"/>
    </p:embeddedFont>
    <p:embeddedFont>
      <p:font typeface="Goudy Bold" panose="020B0604020202020204" charset="0"/>
      <p:regular r:id="rId10"/>
    </p:embeddedFont>
    <p:embeddedFont>
      <p:font typeface="Neue Montreal Bold" panose="020B0604020202020204" charset="0"/>
      <p:regular r:id="rId1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2" d="100"/>
          <a:sy n="52" d="100"/>
        </p:scale>
        <p:origin x="778"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3.fntdata"/><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font" Target="fonts/font1.fntdata"/><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B21B497-EFB4-49E5-A422-C2A1058F4A48}" type="datetimeFigureOut">
              <a:rPr lang="en-IN" smtClean="0"/>
              <a:t>13-03-2026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FDBC8B6-475A-44DC-8E9E-E79A3586BBD8}" type="slidenum">
              <a:rPr lang="en-IN" smtClean="0"/>
              <a:t>‹#›</a:t>
            </a:fld>
            <a:endParaRPr lang="en-IN"/>
          </a:p>
        </p:txBody>
      </p:sp>
    </p:spTree>
    <p:extLst>
      <p:ext uri="{BB962C8B-B14F-4D97-AF65-F5344CB8AC3E}">
        <p14:creationId xmlns:p14="http://schemas.microsoft.com/office/powerpoint/2010/main" val="3897401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FDBC8B6-475A-44DC-8E9E-E79A3586BBD8}" type="slidenum">
              <a:rPr lang="en-IN" smtClean="0"/>
              <a:t>2</a:t>
            </a:fld>
            <a:endParaRPr lang="en-IN"/>
          </a:p>
        </p:txBody>
      </p:sp>
    </p:spTree>
    <p:extLst>
      <p:ext uri="{BB962C8B-B14F-4D97-AF65-F5344CB8AC3E}">
        <p14:creationId xmlns:p14="http://schemas.microsoft.com/office/powerpoint/2010/main" val="19728712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3/13/2026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3.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2.png"/><Relationship Id="rId10" Type="http://schemas.openxmlformats.org/officeDocument/2006/relationships/image" Target="../media/image8.png"/><Relationship Id="rId4" Type="http://schemas.openxmlformats.org/officeDocument/2006/relationships/image" Target="../media/image1.png"/><Relationship Id="rId9"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6" Type="http://schemas.microsoft.com/office/2007/relationships/hdphoto" Target="../media/hdphoto1.wdp"/><Relationship Id="rId5" Type="http://schemas.openxmlformats.org/officeDocument/2006/relationships/image" Target="../media/image10.pn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hyperlink" Target="https://arxiv.org/abs/2002.08155" TargetMode="Externa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1.png"/><Relationship Id="rId5" Type="http://schemas.openxmlformats.org/officeDocument/2006/relationships/image" Target="../media/image3.png"/><Relationship Id="rId4" Type="http://schemas.openxmlformats.org/officeDocument/2006/relationships/hyperlink" Target="https://arxiv.org/abs/2009.08366"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10282238"/>
            <a:ext cx="18288000" cy="0"/>
          </a:xfrm>
          <a:prstGeom prst="line">
            <a:avLst/>
          </a:prstGeom>
          <a:ln w="9525" cap="flat">
            <a:solidFill>
              <a:srgbClr val="191919"/>
            </a:solidFill>
            <a:prstDash val="solid"/>
            <a:headEnd type="none" w="sm" len="sm"/>
            <a:tailEnd type="none" w="sm" len="sm"/>
          </a:ln>
        </p:spPr>
      </p:sp>
      <p:sp>
        <p:nvSpPr>
          <p:cNvPr id="3" name="Freeform 3"/>
          <p:cNvSpPr/>
          <p:nvPr/>
        </p:nvSpPr>
        <p:spPr>
          <a:xfrm>
            <a:off x="607195" y="464929"/>
            <a:ext cx="3094349" cy="1450639"/>
          </a:xfrm>
          <a:custGeom>
            <a:avLst/>
            <a:gdLst/>
            <a:ahLst/>
            <a:cxnLst/>
            <a:rect l="l" t="t" r="r" b="b"/>
            <a:pathLst>
              <a:path w="3094349" h="1450639">
                <a:moveTo>
                  <a:pt x="0" y="0"/>
                </a:moveTo>
                <a:lnTo>
                  <a:pt x="3094349" y="0"/>
                </a:lnTo>
                <a:lnTo>
                  <a:pt x="3094349" y="1450640"/>
                </a:lnTo>
                <a:lnTo>
                  <a:pt x="0" y="1450640"/>
                </a:lnTo>
                <a:lnTo>
                  <a:pt x="0" y="0"/>
                </a:lnTo>
                <a:close/>
              </a:path>
            </a:pathLst>
          </a:custGeom>
          <a:blipFill>
            <a:blip r:embed="rId2"/>
            <a:stretch>
              <a:fillRect/>
            </a:stretch>
          </a:blipFill>
        </p:spPr>
        <p:txBody>
          <a:bodyPr/>
          <a:lstStyle/>
          <a:p>
            <a:endParaRPr lang="en-US" dirty="0">
              <a:latin typeface="Times New Roman" panose="02020603050405020304" pitchFamily="18" charset="0"/>
              <a:cs typeface="Times New Roman" panose="02020603050405020304" pitchFamily="18" charset="0"/>
            </a:endParaRPr>
          </a:p>
        </p:txBody>
      </p:sp>
      <p:sp>
        <p:nvSpPr>
          <p:cNvPr id="4" name="TextBox 4"/>
          <p:cNvSpPr txBox="1"/>
          <p:nvPr/>
        </p:nvSpPr>
        <p:spPr>
          <a:xfrm>
            <a:off x="3087560" y="445065"/>
            <a:ext cx="11377470" cy="841577"/>
          </a:xfrm>
          <a:prstGeom prst="rect">
            <a:avLst/>
          </a:prstGeom>
        </p:spPr>
        <p:txBody>
          <a:bodyPr lIns="0" tIns="0" rIns="0" bIns="0" rtlCol="0" anchor="t">
            <a:spAutoFit/>
          </a:bodyPr>
          <a:lstStyle/>
          <a:p>
            <a:pPr marL="0" lvl="0" indent="0" algn="ctr">
              <a:lnSpc>
                <a:spcPts val="6481"/>
              </a:lnSpc>
            </a:pPr>
            <a:r>
              <a:rPr lang="en-US" sz="7201" b="1" spc="-727" dirty="0">
                <a:solidFill>
                  <a:srgbClr val="191919">
                    <a:alpha val="92941"/>
                  </a:srgbClr>
                </a:solidFill>
                <a:latin typeface="Times New Roman" panose="02020603050405020304" pitchFamily="18" charset="0"/>
                <a:ea typeface="Poppins"/>
                <a:cs typeface="Times New Roman" panose="02020603050405020304" pitchFamily="18" charset="0"/>
                <a:sym typeface="Poppins"/>
              </a:rPr>
              <a:t>RSOC-2026</a:t>
            </a:r>
          </a:p>
        </p:txBody>
      </p:sp>
      <p:sp>
        <p:nvSpPr>
          <p:cNvPr id="5" name="Freeform 5"/>
          <p:cNvSpPr/>
          <p:nvPr/>
        </p:nvSpPr>
        <p:spPr>
          <a:xfrm>
            <a:off x="131324" y="9258300"/>
            <a:ext cx="2571612" cy="873378"/>
          </a:xfrm>
          <a:custGeom>
            <a:avLst/>
            <a:gdLst/>
            <a:ahLst/>
            <a:cxnLst/>
            <a:rect l="l" t="t" r="r" b="b"/>
            <a:pathLst>
              <a:path w="2571612" h="873378">
                <a:moveTo>
                  <a:pt x="0" y="0"/>
                </a:moveTo>
                <a:lnTo>
                  <a:pt x="2571612" y="0"/>
                </a:lnTo>
                <a:lnTo>
                  <a:pt x="2571612" y="873378"/>
                </a:lnTo>
                <a:lnTo>
                  <a:pt x="0" y="873378"/>
                </a:lnTo>
                <a:lnTo>
                  <a:pt x="0" y="0"/>
                </a:lnTo>
                <a:close/>
              </a:path>
            </a:pathLst>
          </a:custGeom>
          <a:blipFill>
            <a:blip r:embed="rId3"/>
            <a:stretch>
              <a:fillRect/>
            </a:stretch>
          </a:blipFill>
        </p:spPr>
      </p:sp>
      <p:sp>
        <p:nvSpPr>
          <p:cNvPr id="6" name="AutoShape 6"/>
          <p:cNvSpPr/>
          <p:nvPr/>
        </p:nvSpPr>
        <p:spPr>
          <a:xfrm>
            <a:off x="2916424" y="9632601"/>
            <a:ext cx="13606988" cy="62388"/>
          </a:xfrm>
          <a:prstGeom prst="line">
            <a:avLst/>
          </a:prstGeom>
          <a:ln w="28575" cap="flat">
            <a:solidFill>
              <a:srgbClr val="AA1313"/>
            </a:solidFill>
            <a:prstDash val="solid"/>
            <a:headEnd type="none" w="sm" len="sm"/>
            <a:tailEnd type="none" w="sm" len="sm"/>
          </a:ln>
        </p:spPr>
      </p:sp>
      <p:grpSp>
        <p:nvGrpSpPr>
          <p:cNvPr id="7" name="Group 7"/>
          <p:cNvGrpSpPr/>
          <p:nvPr/>
        </p:nvGrpSpPr>
        <p:grpSpPr>
          <a:xfrm rot="-10800000">
            <a:off x="16856440" y="0"/>
            <a:ext cx="1431560" cy="10287000"/>
            <a:chOff x="0" y="0"/>
            <a:chExt cx="377036" cy="2709333"/>
          </a:xfrm>
        </p:grpSpPr>
        <p:sp>
          <p:nvSpPr>
            <p:cNvPr id="8" name="Freeform 8"/>
            <p:cNvSpPr/>
            <p:nvPr/>
          </p:nvSpPr>
          <p:spPr>
            <a:xfrm>
              <a:off x="0" y="0"/>
              <a:ext cx="377036" cy="2709333"/>
            </a:xfrm>
            <a:custGeom>
              <a:avLst/>
              <a:gdLst/>
              <a:ahLst/>
              <a:cxnLst/>
              <a:rect l="l" t="t" r="r" b="b"/>
              <a:pathLst>
                <a:path w="377036" h="2709333">
                  <a:moveTo>
                    <a:pt x="0" y="0"/>
                  </a:moveTo>
                  <a:lnTo>
                    <a:pt x="377036" y="0"/>
                  </a:lnTo>
                  <a:lnTo>
                    <a:pt x="377036" y="2709333"/>
                  </a:lnTo>
                  <a:lnTo>
                    <a:pt x="0" y="2709333"/>
                  </a:lnTo>
                  <a:close/>
                </a:path>
              </a:pathLst>
            </a:custGeom>
            <a:gradFill rotWithShape="1">
              <a:gsLst>
                <a:gs pos="0">
                  <a:srgbClr val="FF3B4B">
                    <a:alpha val="100000"/>
                  </a:srgbClr>
                </a:gs>
                <a:gs pos="100000">
                  <a:srgbClr val="98C4EC">
                    <a:alpha val="100000"/>
                  </a:srgbClr>
                </a:gs>
              </a:gsLst>
              <a:lin ang="5400000"/>
            </a:gradFill>
          </p:spPr>
        </p:sp>
        <p:sp>
          <p:nvSpPr>
            <p:cNvPr id="9" name="TextBox 9"/>
            <p:cNvSpPr txBox="1"/>
            <p:nvPr/>
          </p:nvSpPr>
          <p:spPr>
            <a:xfrm>
              <a:off x="0" y="-38100"/>
              <a:ext cx="377036" cy="2747433"/>
            </a:xfrm>
            <a:prstGeom prst="rect">
              <a:avLst/>
            </a:prstGeom>
          </p:spPr>
          <p:txBody>
            <a:bodyPr lIns="50800" tIns="50800" rIns="50800" bIns="50800" rtlCol="0" anchor="ctr"/>
            <a:lstStyle/>
            <a:p>
              <a:pPr algn="ctr">
                <a:lnSpc>
                  <a:spcPts val="3359"/>
                </a:lnSpc>
              </a:pPr>
              <a:endParaRPr>
                <a:latin typeface="Times New Roman" panose="02020603050405020304" pitchFamily="18" charset="0"/>
                <a:cs typeface="Times New Roman" panose="02020603050405020304" pitchFamily="18" charset="0"/>
              </a:endParaRPr>
            </a:p>
          </p:txBody>
        </p:sp>
      </p:grpSp>
      <p:sp>
        <p:nvSpPr>
          <p:cNvPr id="10" name="Freeform 10"/>
          <p:cNvSpPr/>
          <p:nvPr/>
        </p:nvSpPr>
        <p:spPr>
          <a:xfrm>
            <a:off x="13796967" y="-701436"/>
            <a:ext cx="3149217" cy="3149217"/>
          </a:xfrm>
          <a:custGeom>
            <a:avLst/>
            <a:gdLst/>
            <a:ahLst/>
            <a:cxnLst/>
            <a:rect l="l" t="t" r="r" b="b"/>
            <a:pathLst>
              <a:path w="3149217" h="3149217">
                <a:moveTo>
                  <a:pt x="0" y="0"/>
                </a:moveTo>
                <a:lnTo>
                  <a:pt x="3149217" y="0"/>
                </a:lnTo>
                <a:lnTo>
                  <a:pt x="3149217" y="3149216"/>
                </a:lnTo>
                <a:lnTo>
                  <a:pt x="0" y="3149216"/>
                </a:lnTo>
                <a:lnTo>
                  <a:pt x="0" y="0"/>
                </a:lnTo>
                <a:close/>
              </a:path>
            </a:pathLst>
          </a:custGeom>
          <a:blipFill>
            <a:blip r:embed="rId4"/>
            <a:stretch>
              <a:fillRect/>
            </a:stretch>
          </a:blipFill>
        </p:spPr>
      </p:sp>
      <p:sp>
        <p:nvSpPr>
          <p:cNvPr id="14" name="TextBox 14"/>
          <p:cNvSpPr txBox="1"/>
          <p:nvPr/>
        </p:nvSpPr>
        <p:spPr>
          <a:xfrm>
            <a:off x="0" y="4039237"/>
            <a:ext cx="16383000" cy="4833118"/>
          </a:xfrm>
          <a:prstGeom prst="rect">
            <a:avLst/>
          </a:prstGeom>
        </p:spPr>
        <p:txBody>
          <a:bodyPr wrap="square" lIns="0" tIns="0" rIns="0" bIns="0" rtlCol="0" anchor="t">
            <a:spAutoFit/>
          </a:bodyPr>
          <a:lstStyle/>
          <a:p>
            <a:pPr marL="906785" lvl="1" indent="-453392" algn="l">
              <a:lnSpc>
                <a:spcPts val="5880"/>
              </a:lnSpc>
              <a:buFont typeface="Arial"/>
              <a:buChar char="•"/>
            </a:pPr>
            <a:r>
              <a:rPr lang="en-US" sz="4200" dirty="0">
                <a:solidFill>
                  <a:srgbClr val="191919"/>
                </a:solidFill>
                <a:latin typeface="Times New Roman" panose="02020603050405020304" pitchFamily="18" charset="0"/>
                <a:ea typeface="Aadil"/>
                <a:cs typeface="Times New Roman" panose="02020603050405020304" pitchFamily="18" charset="0"/>
                <a:sym typeface="Aadil"/>
              </a:rPr>
              <a:t>Domain :– AI ML</a:t>
            </a:r>
          </a:p>
          <a:p>
            <a:pPr marL="906785" lvl="1" indent="-453392">
              <a:lnSpc>
                <a:spcPts val="5880"/>
              </a:lnSpc>
              <a:buFont typeface="Arial"/>
              <a:buChar char="•"/>
            </a:pPr>
            <a:r>
              <a:rPr lang="en-US" sz="4200" dirty="0">
                <a:solidFill>
                  <a:srgbClr val="191919"/>
                </a:solidFill>
                <a:latin typeface="Times New Roman" panose="02020603050405020304" pitchFamily="18" charset="0"/>
                <a:ea typeface="Aadil"/>
                <a:cs typeface="Times New Roman" panose="02020603050405020304" pitchFamily="18" charset="0"/>
                <a:sym typeface="Aadil"/>
              </a:rPr>
              <a:t>Problem Statement Title:- AI Code Review </a:t>
            </a:r>
          </a:p>
          <a:p>
            <a:pPr marL="906785" lvl="1" indent="-453392" algn="l">
              <a:lnSpc>
                <a:spcPts val="5880"/>
              </a:lnSpc>
              <a:buFont typeface="Arial"/>
              <a:buChar char="•"/>
            </a:pPr>
            <a:r>
              <a:rPr lang="en-US" sz="4200" dirty="0">
                <a:solidFill>
                  <a:srgbClr val="191919"/>
                </a:solidFill>
                <a:latin typeface="Times New Roman" panose="02020603050405020304" pitchFamily="18" charset="0"/>
                <a:ea typeface="Aadil"/>
                <a:cs typeface="Times New Roman" panose="02020603050405020304" pitchFamily="18" charset="0"/>
                <a:sym typeface="Aadil"/>
              </a:rPr>
              <a:t>Team Leader Name: - Tanmay Patil</a:t>
            </a:r>
          </a:p>
          <a:p>
            <a:pPr marL="906785" lvl="1" indent="-453392" algn="l">
              <a:lnSpc>
                <a:spcPts val="5880"/>
              </a:lnSpc>
              <a:buFont typeface="Arial"/>
              <a:buChar char="•"/>
            </a:pPr>
            <a:r>
              <a:rPr lang="en-US" sz="4200" dirty="0">
                <a:solidFill>
                  <a:srgbClr val="191919"/>
                </a:solidFill>
                <a:latin typeface="Times New Roman" panose="02020603050405020304" pitchFamily="18" charset="0"/>
                <a:ea typeface="Aadil"/>
                <a:cs typeface="Times New Roman" panose="02020603050405020304" pitchFamily="18" charset="0"/>
                <a:sym typeface="Aadil"/>
              </a:rPr>
              <a:t>Group  No:- 13</a:t>
            </a:r>
          </a:p>
          <a:p>
            <a:pPr marL="906785" lvl="1" indent="-453392" algn="l">
              <a:lnSpc>
                <a:spcPts val="5880"/>
              </a:lnSpc>
              <a:buFont typeface="Arial"/>
              <a:buChar char="•"/>
            </a:pPr>
            <a:r>
              <a:rPr lang="en-US" sz="4200" dirty="0">
                <a:solidFill>
                  <a:srgbClr val="191919"/>
                </a:solidFill>
                <a:latin typeface="Times New Roman" panose="02020603050405020304" pitchFamily="18" charset="0"/>
                <a:ea typeface="Aadil"/>
                <a:cs typeface="Times New Roman" panose="02020603050405020304" pitchFamily="18" charset="0"/>
                <a:sym typeface="Aadil"/>
              </a:rPr>
              <a:t>Team Name:- </a:t>
            </a:r>
            <a:r>
              <a:rPr lang="en-US" sz="4200" dirty="0" err="1">
                <a:solidFill>
                  <a:srgbClr val="191919"/>
                </a:solidFill>
                <a:latin typeface="Times New Roman" panose="02020603050405020304" pitchFamily="18" charset="0"/>
                <a:ea typeface="Aadil"/>
                <a:cs typeface="Times New Roman" panose="02020603050405020304" pitchFamily="18" charset="0"/>
                <a:sym typeface="Aadil"/>
              </a:rPr>
              <a:t>Bytecoders</a:t>
            </a:r>
            <a:endParaRPr lang="en-US" sz="4200" dirty="0">
              <a:solidFill>
                <a:srgbClr val="191919"/>
              </a:solidFill>
              <a:latin typeface="Times New Roman" panose="02020603050405020304" pitchFamily="18" charset="0"/>
              <a:ea typeface="Aadil"/>
              <a:cs typeface="Times New Roman" panose="02020603050405020304" pitchFamily="18" charset="0"/>
              <a:sym typeface="Aadil"/>
            </a:endParaRPr>
          </a:p>
          <a:p>
            <a:pPr marL="906785" lvl="1" indent="-453392" algn="l">
              <a:lnSpc>
                <a:spcPts val="5880"/>
              </a:lnSpc>
              <a:buFont typeface="Arial"/>
              <a:buChar char="•"/>
            </a:pPr>
            <a:r>
              <a:rPr lang="en-US" sz="4200" dirty="0">
                <a:solidFill>
                  <a:srgbClr val="191919"/>
                </a:solidFill>
                <a:latin typeface="Times New Roman" panose="02020603050405020304" pitchFamily="18" charset="0"/>
                <a:ea typeface="Aadil"/>
                <a:cs typeface="Times New Roman" panose="02020603050405020304" pitchFamily="18" charset="0"/>
                <a:sym typeface="Aadil"/>
              </a:rPr>
              <a:t>Members:- Bhawana Nirwan , Sheikh </a:t>
            </a:r>
            <a:r>
              <a:rPr lang="en-US" sz="4200" dirty="0" err="1">
                <a:solidFill>
                  <a:srgbClr val="191919"/>
                </a:solidFill>
                <a:latin typeface="Times New Roman" panose="02020603050405020304" pitchFamily="18" charset="0"/>
                <a:ea typeface="Aadil"/>
                <a:cs typeface="Times New Roman" panose="02020603050405020304" pitchFamily="18" charset="0"/>
                <a:sym typeface="Aadil"/>
              </a:rPr>
              <a:t>Wasimuddin</a:t>
            </a:r>
            <a:r>
              <a:rPr lang="en-US" sz="4200" dirty="0">
                <a:solidFill>
                  <a:srgbClr val="191919"/>
                </a:solidFill>
                <a:latin typeface="Times New Roman" panose="02020603050405020304" pitchFamily="18" charset="0"/>
                <a:ea typeface="Aadil"/>
                <a:cs typeface="Times New Roman" panose="02020603050405020304" pitchFamily="18" charset="0"/>
                <a:sym typeface="Aadil"/>
              </a:rPr>
              <a:t> , Vedant Akare</a:t>
            </a:r>
          </a:p>
          <a:p>
            <a:pPr marL="237512" lvl="1" indent="-118756" algn="l">
              <a:lnSpc>
                <a:spcPts val="1540"/>
              </a:lnSpc>
              <a:buAutoNum type="arabicPeriod"/>
            </a:pPr>
            <a:endParaRPr lang="en-US" sz="4200" dirty="0">
              <a:solidFill>
                <a:srgbClr val="191919"/>
              </a:solidFill>
              <a:latin typeface="Times New Roman" panose="02020603050405020304" pitchFamily="18" charset="0"/>
              <a:ea typeface="Aadil"/>
              <a:cs typeface="Times New Roman" panose="02020603050405020304" pitchFamily="18" charset="0"/>
              <a:sym typeface="Aadil"/>
            </a:endParaRPr>
          </a:p>
        </p:txBody>
      </p:sp>
      <p:sp>
        <p:nvSpPr>
          <p:cNvPr id="15" name="TextBox 15"/>
          <p:cNvSpPr txBox="1"/>
          <p:nvPr/>
        </p:nvSpPr>
        <p:spPr>
          <a:xfrm>
            <a:off x="2702936" y="9782428"/>
            <a:ext cx="9399570" cy="329386"/>
          </a:xfrm>
          <a:prstGeom prst="rect">
            <a:avLst/>
          </a:prstGeom>
        </p:spPr>
        <p:txBody>
          <a:bodyPr lIns="0" tIns="0" rIns="0" bIns="0" rtlCol="0" anchor="t">
            <a:spAutoFit/>
          </a:bodyPr>
          <a:lstStyle/>
          <a:p>
            <a:pPr algn="ctr">
              <a:lnSpc>
                <a:spcPts val="2800"/>
              </a:lnSpc>
            </a:pPr>
            <a:r>
              <a:rPr lang="en-US" sz="2000" b="1">
                <a:solidFill>
                  <a:srgbClr val="5C2D88"/>
                </a:solidFill>
                <a:latin typeface="Times New Roman" panose="02020603050405020304" pitchFamily="18" charset="0"/>
                <a:ea typeface="Canva Sans Bold"/>
                <a:cs typeface="Times New Roman" panose="02020603050405020304" pitchFamily="18" charset="0"/>
                <a:sym typeface="Canva Sans Bold"/>
              </a:rPr>
              <a:t>Nagpur | Pune | Jalgaon | Amravati | Pandhura | Bhandara</a:t>
            </a:r>
          </a:p>
        </p:txBody>
      </p:sp>
      <p:grpSp>
        <p:nvGrpSpPr>
          <p:cNvPr id="16" name="Group 3">
            <a:extLst>
              <a:ext uri="{FF2B5EF4-FFF2-40B4-BE49-F238E27FC236}">
                <a16:creationId xmlns:a16="http://schemas.microsoft.com/office/drawing/2014/main" id="{260069D9-2081-BD7C-2E74-80EBEE2358EA}"/>
              </a:ext>
            </a:extLst>
          </p:cNvPr>
          <p:cNvGrpSpPr/>
          <p:nvPr/>
        </p:nvGrpSpPr>
        <p:grpSpPr>
          <a:xfrm>
            <a:off x="7545277" y="1481217"/>
            <a:ext cx="2412875" cy="878274"/>
            <a:chOff x="-2135159" y="-2129164"/>
            <a:chExt cx="635490" cy="231315"/>
          </a:xfrm>
        </p:grpSpPr>
        <p:sp>
          <p:nvSpPr>
            <p:cNvPr id="17" name="Freeform 4">
              <a:extLst>
                <a:ext uri="{FF2B5EF4-FFF2-40B4-BE49-F238E27FC236}">
                  <a16:creationId xmlns:a16="http://schemas.microsoft.com/office/drawing/2014/main" id="{AACBC58C-3D28-6481-FF64-E06D28AC0281}"/>
                </a:ext>
              </a:extLst>
            </p:cNvPr>
            <p:cNvSpPr/>
            <p:nvPr/>
          </p:nvSpPr>
          <p:spPr>
            <a:xfrm>
              <a:off x="-2135159" y="-2090593"/>
              <a:ext cx="634195" cy="174165"/>
            </a:xfrm>
            <a:custGeom>
              <a:avLst/>
              <a:gdLst/>
              <a:ahLst/>
              <a:cxnLst/>
              <a:rect l="l" t="t" r="r" b="b"/>
              <a:pathLst>
                <a:path w="634195" h="174165">
                  <a:moveTo>
                    <a:pt x="87083" y="0"/>
                  </a:moveTo>
                  <a:lnTo>
                    <a:pt x="547112" y="0"/>
                  </a:lnTo>
                  <a:cubicBezTo>
                    <a:pt x="570208" y="0"/>
                    <a:pt x="592358" y="9175"/>
                    <a:pt x="608689" y="25506"/>
                  </a:cubicBezTo>
                  <a:cubicBezTo>
                    <a:pt x="625020" y="41837"/>
                    <a:pt x="634195" y="63987"/>
                    <a:pt x="634195" y="87083"/>
                  </a:cubicBezTo>
                  <a:lnTo>
                    <a:pt x="634195" y="87083"/>
                  </a:lnTo>
                  <a:cubicBezTo>
                    <a:pt x="634195" y="110178"/>
                    <a:pt x="625020" y="132328"/>
                    <a:pt x="608689" y="148659"/>
                  </a:cubicBezTo>
                  <a:cubicBezTo>
                    <a:pt x="592358" y="164990"/>
                    <a:pt x="570208" y="174165"/>
                    <a:pt x="547112" y="174165"/>
                  </a:cubicBezTo>
                  <a:lnTo>
                    <a:pt x="87083" y="174165"/>
                  </a:lnTo>
                  <a:cubicBezTo>
                    <a:pt x="63987" y="174165"/>
                    <a:pt x="41837" y="164990"/>
                    <a:pt x="25506" y="148659"/>
                  </a:cubicBezTo>
                  <a:cubicBezTo>
                    <a:pt x="9175" y="132328"/>
                    <a:pt x="0" y="110178"/>
                    <a:pt x="0" y="87083"/>
                  </a:cubicBezTo>
                  <a:lnTo>
                    <a:pt x="0" y="87083"/>
                  </a:lnTo>
                  <a:cubicBezTo>
                    <a:pt x="0" y="63987"/>
                    <a:pt x="9175" y="41837"/>
                    <a:pt x="25506" y="25506"/>
                  </a:cubicBezTo>
                  <a:cubicBezTo>
                    <a:pt x="41837" y="9175"/>
                    <a:pt x="63987" y="0"/>
                    <a:pt x="87083" y="0"/>
                  </a:cubicBezTo>
                  <a:close/>
                </a:path>
              </a:pathLst>
            </a:custGeom>
            <a:solidFill>
              <a:srgbClr val="98C4EC"/>
            </a:solidFill>
          </p:spPr>
        </p:sp>
        <p:sp>
          <p:nvSpPr>
            <p:cNvPr id="18" name="TextBox 5">
              <a:extLst>
                <a:ext uri="{FF2B5EF4-FFF2-40B4-BE49-F238E27FC236}">
                  <a16:creationId xmlns:a16="http://schemas.microsoft.com/office/drawing/2014/main" id="{C0BB70B2-A778-280D-B7B2-977DC02D0ED0}"/>
                </a:ext>
              </a:extLst>
            </p:cNvPr>
            <p:cNvSpPr txBox="1"/>
            <p:nvPr/>
          </p:nvSpPr>
          <p:spPr>
            <a:xfrm>
              <a:off x="-2133864" y="-2129164"/>
              <a:ext cx="634195" cy="231315"/>
            </a:xfrm>
            <a:prstGeom prst="rect">
              <a:avLst/>
            </a:prstGeom>
          </p:spPr>
          <p:txBody>
            <a:bodyPr lIns="50800" tIns="50800" rIns="50800" bIns="50800" rtlCol="0" anchor="ctr"/>
            <a:lstStyle/>
            <a:p>
              <a:pPr algn="ctr">
                <a:lnSpc>
                  <a:spcPts val="3919"/>
                </a:lnSpc>
              </a:pPr>
              <a:r>
                <a:rPr lang="en-US" sz="2799" b="1" dirty="0">
                  <a:solidFill>
                    <a:srgbClr val="FFFFFF"/>
                  </a:solidFill>
                  <a:latin typeface="Times New Roman" panose="02020603050405020304" pitchFamily="18" charset="0"/>
                  <a:ea typeface="Neue Montreal Bold"/>
                  <a:cs typeface="Times New Roman" panose="02020603050405020304" pitchFamily="18" charset="0"/>
                  <a:sym typeface="Neue Montreal Bold"/>
                </a:rPr>
                <a:t>GROUP-13</a:t>
              </a: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2659528" y="14114"/>
            <a:ext cx="12444184" cy="1166986"/>
          </a:xfrm>
          <a:prstGeom prst="rect">
            <a:avLst/>
          </a:prstGeom>
        </p:spPr>
        <p:txBody>
          <a:bodyPr lIns="0" tIns="0" rIns="0" bIns="0" rtlCol="0" anchor="t">
            <a:spAutoFit/>
          </a:bodyPr>
          <a:lstStyle/>
          <a:p>
            <a:pPr algn="ctr">
              <a:lnSpc>
                <a:spcPts val="9121"/>
              </a:lnSpc>
            </a:pPr>
            <a:r>
              <a:rPr lang="en-US" sz="7600" b="1" spc="-456" dirty="0">
                <a:solidFill>
                  <a:srgbClr val="000000"/>
                </a:solidFill>
                <a:latin typeface="Times New Roman" panose="02020603050405020304" pitchFamily="18" charset="0"/>
                <a:ea typeface="Goudy Bold"/>
                <a:cs typeface="Times New Roman" panose="02020603050405020304" pitchFamily="18" charset="0"/>
                <a:sym typeface="Goudy Bold"/>
              </a:rPr>
              <a:t>IDEA TITLE</a:t>
            </a:r>
          </a:p>
        </p:txBody>
      </p:sp>
      <p:grpSp>
        <p:nvGrpSpPr>
          <p:cNvPr id="3" name="Group 3"/>
          <p:cNvGrpSpPr/>
          <p:nvPr/>
        </p:nvGrpSpPr>
        <p:grpSpPr>
          <a:xfrm>
            <a:off x="15652205" y="9565386"/>
            <a:ext cx="2407958" cy="661283"/>
            <a:chOff x="0" y="0"/>
            <a:chExt cx="634195" cy="174165"/>
          </a:xfrm>
        </p:grpSpPr>
        <p:sp>
          <p:nvSpPr>
            <p:cNvPr id="4" name="Freeform 4"/>
            <p:cNvSpPr/>
            <p:nvPr/>
          </p:nvSpPr>
          <p:spPr>
            <a:xfrm>
              <a:off x="0" y="0"/>
              <a:ext cx="634195" cy="174165"/>
            </a:xfrm>
            <a:custGeom>
              <a:avLst/>
              <a:gdLst/>
              <a:ahLst/>
              <a:cxnLst/>
              <a:rect l="l" t="t" r="r" b="b"/>
              <a:pathLst>
                <a:path w="634195" h="174165">
                  <a:moveTo>
                    <a:pt x="87083" y="0"/>
                  </a:moveTo>
                  <a:lnTo>
                    <a:pt x="547112" y="0"/>
                  </a:lnTo>
                  <a:cubicBezTo>
                    <a:pt x="570208" y="0"/>
                    <a:pt x="592358" y="9175"/>
                    <a:pt x="608689" y="25506"/>
                  </a:cubicBezTo>
                  <a:cubicBezTo>
                    <a:pt x="625020" y="41837"/>
                    <a:pt x="634195" y="63987"/>
                    <a:pt x="634195" y="87083"/>
                  </a:cubicBezTo>
                  <a:lnTo>
                    <a:pt x="634195" y="87083"/>
                  </a:lnTo>
                  <a:cubicBezTo>
                    <a:pt x="634195" y="110178"/>
                    <a:pt x="625020" y="132328"/>
                    <a:pt x="608689" y="148659"/>
                  </a:cubicBezTo>
                  <a:cubicBezTo>
                    <a:pt x="592358" y="164990"/>
                    <a:pt x="570208" y="174165"/>
                    <a:pt x="547112" y="174165"/>
                  </a:cubicBezTo>
                  <a:lnTo>
                    <a:pt x="87083" y="174165"/>
                  </a:lnTo>
                  <a:cubicBezTo>
                    <a:pt x="63987" y="174165"/>
                    <a:pt x="41837" y="164990"/>
                    <a:pt x="25506" y="148659"/>
                  </a:cubicBezTo>
                  <a:cubicBezTo>
                    <a:pt x="9175" y="132328"/>
                    <a:pt x="0" y="110178"/>
                    <a:pt x="0" y="87083"/>
                  </a:cubicBezTo>
                  <a:lnTo>
                    <a:pt x="0" y="87083"/>
                  </a:lnTo>
                  <a:cubicBezTo>
                    <a:pt x="0" y="63987"/>
                    <a:pt x="9175" y="41837"/>
                    <a:pt x="25506" y="25506"/>
                  </a:cubicBezTo>
                  <a:cubicBezTo>
                    <a:pt x="41837" y="9175"/>
                    <a:pt x="63987" y="0"/>
                    <a:pt x="87083" y="0"/>
                  </a:cubicBezTo>
                  <a:close/>
                </a:path>
              </a:pathLst>
            </a:custGeom>
            <a:solidFill>
              <a:srgbClr val="98C4EC"/>
            </a:solidFill>
          </p:spPr>
          <p:txBody>
            <a:bodyPr/>
            <a:lstStyle/>
            <a:p>
              <a:endParaRPr lang="en-IN" dirty="0"/>
            </a:p>
          </p:txBody>
        </p:sp>
        <p:sp>
          <p:nvSpPr>
            <p:cNvPr id="5" name="TextBox 5"/>
            <p:cNvSpPr txBox="1"/>
            <p:nvPr/>
          </p:nvSpPr>
          <p:spPr>
            <a:xfrm>
              <a:off x="0" y="-57150"/>
              <a:ext cx="634195" cy="231315"/>
            </a:xfrm>
            <a:prstGeom prst="rect">
              <a:avLst/>
            </a:prstGeom>
          </p:spPr>
          <p:txBody>
            <a:bodyPr lIns="50800" tIns="50800" rIns="50800" bIns="50800" rtlCol="0" anchor="ctr"/>
            <a:lstStyle/>
            <a:p>
              <a:pPr algn="ctr">
                <a:lnSpc>
                  <a:spcPts val="3919"/>
                </a:lnSpc>
              </a:pPr>
              <a:r>
                <a:rPr lang="en-US" sz="2799" b="1" dirty="0">
                  <a:solidFill>
                    <a:srgbClr val="FFFFFF"/>
                  </a:solidFill>
                  <a:latin typeface="Times New Roman" panose="02020603050405020304" pitchFamily="18" charset="0"/>
                  <a:ea typeface="Neue Montreal Bold"/>
                  <a:cs typeface="Times New Roman" panose="02020603050405020304" pitchFamily="18" charset="0"/>
                  <a:sym typeface="Neue Montreal Bold"/>
                </a:rPr>
                <a:t>GROUP-13</a:t>
              </a:r>
            </a:p>
          </p:txBody>
        </p:sp>
      </p:grpSp>
      <p:sp>
        <p:nvSpPr>
          <p:cNvPr id="6" name="Freeform 6"/>
          <p:cNvSpPr/>
          <p:nvPr/>
        </p:nvSpPr>
        <p:spPr>
          <a:xfrm>
            <a:off x="15608685" y="-800100"/>
            <a:ext cx="2603115" cy="2603115"/>
          </a:xfrm>
          <a:custGeom>
            <a:avLst/>
            <a:gdLst/>
            <a:ahLst/>
            <a:cxnLst/>
            <a:rect l="l" t="t" r="r" b="b"/>
            <a:pathLst>
              <a:path w="2603115" h="2603115">
                <a:moveTo>
                  <a:pt x="0" y="0"/>
                </a:moveTo>
                <a:lnTo>
                  <a:pt x="2603114" y="0"/>
                </a:lnTo>
                <a:lnTo>
                  <a:pt x="2603114" y="2603115"/>
                </a:lnTo>
                <a:lnTo>
                  <a:pt x="0" y="2603115"/>
                </a:lnTo>
                <a:lnTo>
                  <a:pt x="0" y="0"/>
                </a:lnTo>
                <a:close/>
              </a:path>
            </a:pathLst>
          </a:custGeom>
          <a:blipFill>
            <a:blip r:embed="rId3"/>
            <a:stretch>
              <a:fillRect/>
            </a:stretch>
          </a:blipFill>
        </p:spPr>
        <p:txBody>
          <a:bodyPr/>
          <a:lstStyle/>
          <a:p>
            <a:endParaRPr lang="en-US" dirty="0">
              <a:latin typeface="Times New Roman" panose="02020603050405020304" pitchFamily="18" charset="0"/>
              <a:cs typeface="Times New Roman" panose="02020603050405020304" pitchFamily="18" charset="0"/>
            </a:endParaRPr>
          </a:p>
        </p:txBody>
      </p:sp>
      <p:sp>
        <p:nvSpPr>
          <p:cNvPr id="7" name="Freeform 7"/>
          <p:cNvSpPr/>
          <p:nvPr/>
        </p:nvSpPr>
        <p:spPr>
          <a:xfrm>
            <a:off x="106051" y="111461"/>
            <a:ext cx="3094349" cy="1450639"/>
          </a:xfrm>
          <a:custGeom>
            <a:avLst/>
            <a:gdLst/>
            <a:ahLst/>
            <a:cxnLst/>
            <a:rect l="l" t="t" r="r" b="b"/>
            <a:pathLst>
              <a:path w="3094349" h="1450639">
                <a:moveTo>
                  <a:pt x="0" y="0"/>
                </a:moveTo>
                <a:lnTo>
                  <a:pt x="3094349" y="0"/>
                </a:lnTo>
                <a:lnTo>
                  <a:pt x="3094349" y="1450639"/>
                </a:lnTo>
                <a:lnTo>
                  <a:pt x="0" y="1450639"/>
                </a:lnTo>
                <a:lnTo>
                  <a:pt x="0" y="0"/>
                </a:lnTo>
                <a:close/>
              </a:path>
            </a:pathLst>
          </a:custGeom>
          <a:blipFill>
            <a:blip r:embed="rId4"/>
            <a:stretch>
              <a:fillRect/>
            </a:stretch>
          </a:blipFill>
        </p:spPr>
        <p:txBody>
          <a:bodyPr/>
          <a:lstStyle/>
          <a:p>
            <a:endParaRPr lang="en-US" dirty="0">
              <a:latin typeface="Times New Roman" panose="02020603050405020304" pitchFamily="18" charset="0"/>
              <a:cs typeface="Times New Roman" panose="02020603050405020304" pitchFamily="18" charset="0"/>
            </a:endParaRPr>
          </a:p>
        </p:txBody>
      </p:sp>
      <p:sp>
        <p:nvSpPr>
          <p:cNvPr id="8" name="Freeform 8"/>
          <p:cNvSpPr/>
          <p:nvPr/>
        </p:nvSpPr>
        <p:spPr>
          <a:xfrm>
            <a:off x="0" y="9552175"/>
            <a:ext cx="2275834" cy="772925"/>
          </a:xfrm>
          <a:custGeom>
            <a:avLst/>
            <a:gdLst/>
            <a:ahLst/>
            <a:cxnLst/>
            <a:rect l="l" t="t" r="r" b="b"/>
            <a:pathLst>
              <a:path w="2275834" h="772925">
                <a:moveTo>
                  <a:pt x="0" y="0"/>
                </a:moveTo>
                <a:lnTo>
                  <a:pt x="2275834" y="0"/>
                </a:lnTo>
                <a:lnTo>
                  <a:pt x="2275834" y="772925"/>
                </a:lnTo>
                <a:lnTo>
                  <a:pt x="0" y="772925"/>
                </a:lnTo>
                <a:lnTo>
                  <a:pt x="0" y="0"/>
                </a:lnTo>
                <a:close/>
              </a:path>
            </a:pathLst>
          </a:custGeom>
          <a:blipFill>
            <a:blip r:embed="rId5"/>
            <a:stretch>
              <a:fillRect/>
            </a:stretch>
          </a:blipFill>
        </p:spPr>
      </p:sp>
      <p:sp>
        <p:nvSpPr>
          <p:cNvPr id="9" name="AutoShape 9"/>
          <p:cNvSpPr/>
          <p:nvPr/>
        </p:nvSpPr>
        <p:spPr>
          <a:xfrm>
            <a:off x="2930000" y="9696477"/>
            <a:ext cx="12198330" cy="0"/>
          </a:xfrm>
          <a:prstGeom prst="line">
            <a:avLst/>
          </a:prstGeom>
          <a:ln w="28575" cap="flat">
            <a:solidFill>
              <a:srgbClr val="AA1313"/>
            </a:solidFill>
            <a:prstDash val="solid"/>
            <a:headEnd type="none" w="sm" len="sm"/>
            <a:tailEnd type="none" w="sm" len="sm"/>
          </a:ln>
        </p:spPr>
      </p:sp>
      <p:sp>
        <p:nvSpPr>
          <p:cNvPr id="10" name="TextBox 10"/>
          <p:cNvSpPr txBox="1"/>
          <p:nvPr/>
        </p:nvSpPr>
        <p:spPr>
          <a:xfrm>
            <a:off x="1843642" y="9697590"/>
            <a:ext cx="9399570" cy="329386"/>
          </a:xfrm>
          <a:prstGeom prst="rect">
            <a:avLst/>
          </a:prstGeom>
        </p:spPr>
        <p:txBody>
          <a:bodyPr lIns="0" tIns="0" rIns="0" bIns="0" rtlCol="0" anchor="t">
            <a:spAutoFit/>
          </a:bodyPr>
          <a:lstStyle/>
          <a:p>
            <a:pPr algn="ctr">
              <a:lnSpc>
                <a:spcPts val="2800"/>
              </a:lnSpc>
            </a:pPr>
            <a:r>
              <a:rPr lang="en-US" sz="2000" b="1">
                <a:solidFill>
                  <a:srgbClr val="5C2D88"/>
                </a:solidFill>
                <a:latin typeface="Times New Roman" panose="02020603050405020304" pitchFamily="18" charset="0"/>
                <a:ea typeface="Canva Sans Bold"/>
                <a:cs typeface="Times New Roman" panose="02020603050405020304" pitchFamily="18" charset="0"/>
                <a:sym typeface="Canva Sans Bold"/>
              </a:rPr>
              <a:t>Nagpur | Pune | Jalgaon | Amravati | Pandhura | Bhandara</a:t>
            </a:r>
          </a:p>
        </p:txBody>
      </p:sp>
      <p:sp>
        <p:nvSpPr>
          <p:cNvPr id="15" name="Rectangle 2">
            <a:extLst>
              <a:ext uri="{FF2B5EF4-FFF2-40B4-BE49-F238E27FC236}">
                <a16:creationId xmlns:a16="http://schemas.microsoft.com/office/drawing/2014/main" id="{249CD99A-DF45-A3FA-E850-3E7D8371590F}"/>
              </a:ext>
            </a:extLst>
          </p:cNvPr>
          <p:cNvSpPr>
            <a:spLocks noChangeArrowheads="1"/>
          </p:cNvSpPr>
          <p:nvPr/>
        </p:nvSpPr>
        <p:spPr bwMode="auto">
          <a:xfrm rot="10800000" flipV="1">
            <a:off x="457200" y="2330588"/>
            <a:ext cx="10363200" cy="5632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3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Studied </a:t>
            </a:r>
            <a:r>
              <a:rPr kumimoji="0" lang="en-US" altLang="en-US" sz="3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transformer-based AI models</a:t>
            </a:r>
            <a:r>
              <a:rPr kumimoji="0" lang="en-US" altLang="en-US" sz="3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used for understanding programming languages.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3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Researched </a:t>
            </a:r>
            <a:r>
              <a:rPr kumimoji="0" lang="en-US" altLang="en-US" sz="36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CodeBERT</a:t>
            </a:r>
            <a:r>
              <a:rPr kumimoji="0" lang="en-US" altLang="en-US" sz="3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 pre-trained model designed for code analysis and natural language understanding.</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3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Reviewed research papers on </a:t>
            </a:r>
            <a:r>
              <a:rPr kumimoji="0" lang="en-US" altLang="en-US" sz="3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AI-powered code review and automated debugging techniques</a:t>
            </a:r>
            <a:r>
              <a:rPr kumimoji="0" lang="en-US" altLang="en-US" sz="3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3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Analyzed </a:t>
            </a:r>
            <a:r>
              <a:rPr kumimoji="0" lang="en-US" altLang="en-US" sz="3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machine learning approaches for improving code quality and detecting errors</a:t>
            </a:r>
            <a:r>
              <a:rPr kumimoji="0" lang="en-US" altLang="en-US" sz="3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3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Explored existing studies on </a:t>
            </a:r>
            <a:r>
              <a:rPr kumimoji="0" lang="en-US" altLang="en-US" sz="3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intelligent software development tools and code analysis systems</a:t>
            </a:r>
            <a:r>
              <a:rPr kumimoji="0" lang="en-US" altLang="en-US" sz="3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p:txBody>
      </p:sp>
      <p:sp>
        <p:nvSpPr>
          <p:cNvPr id="16" name="AutoShape 4" descr="TensorFlow">
            <a:extLst>
              <a:ext uri="{FF2B5EF4-FFF2-40B4-BE49-F238E27FC236}">
                <a16:creationId xmlns:a16="http://schemas.microsoft.com/office/drawing/2014/main" id="{215B8D5B-A9F6-8DD5-9EEA-6E2C4B2A5946}"/>
              </a:ext>
            </a:extLst>
          </p:cNvPr>
          <p:cNvSpPr>
            <a:spLocks noChangeAspect="1" noChangeArrowheads="1"/>
          </p:cNvSpPr>
          <p:nvPr/>
        </p:nvSpPr>
        <p:spPr bwMode="auto">
          <a:xfrm>
            <a:off x="8991600" y="4991100"/>
            <a:ext cx="5257800" cy="5257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7" name="AutoShape 6" descr="TensorFlow">
            <a:extLst>
              <a:ext uri="{FF2B5EF4-FFF2-40B4-BE49-F238E27FC236}">
                <a16:creationId xmlns:a16="http://schemas.microsoft.com/office/drawing/2014/main" id="{B4146352-942C-107C-7D03-C0C48AD9E849}"/>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8" name="Picture 17">
            <a:extLst>
              <a:ext uri="{FF2B5EF4-FFF2-40B4-BE49-F238E27FC236}">
                <a16:creationId xmlns:a16="http://schemas.microsoft.com/office/drawing/2014/main" id="{24E62E0A-4C85-C008-EB9B-299260E26E49}"/>
              </a:ext>
            </a:extLst>
          </p:cNvPr>
          <p:cNvPicPr>
            <a:picLocks noChangeAspect="1"/>
          </p:cNvPicPr>
          <p:nvPr/>
        </p:nvPicPr>
        <p:blipFill>
          <a:blip r:embed="rId6"/>
          <a:stretch>
            <a:fillRect/>
          </a:stretch>
        </p:blipFill>
        <p:spPr>
          <a:xfrm>
            <a:off x="14592916" y="1340915"/>
            <a:ext cx="3260008" cy="1825604"/>
          </a:xfrm>
          <a:prstGeom prst="rect">
            <a:avLst/>
          </a:prstGeom>
        </p:spPr>
      </p:pic>
      <p:pic>
        <p:nvPicPr>
          <p:cNvPr id="1032" name="Picture 8" descr="Python (programming language) - Wikipedia">
            <a:extLst>
              <a:ext uri="{FF2B5EF4-FFF2-40B4-BE49-F238E27FC236}">
                <a16:creationId xmlns:a16="http://schemas.microsoft.com/office/drawing/2014/main" id="{2ED545CB-083B-96C2-41E8-8023BE3D8CF0}"/>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6444453" y="4867782"/>
            <a:ext cx="1415845" cy="1415845"/>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React Native - Wikipedia">
            <a:extLst>
              <a:ext uri="{FF2B5EF4-FFF2-40B4-BE49-F238E27FC236}">
                <a16:creationId xmlns:a16="http://schemas.microsoft.com/office/drawing/2014/main" id="{877C0C88-1FDC-5450-8FF3-7647E6D96141}"/>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11849482" y="5274211"/>
            <a:ext cx="1788094" cy="1591163"/>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microsoft/codebert-base · Hugging Face">
            <a:extLst>
              <a:ext uri="{FF2B5EF4-FFF2-40B4-BE49-F238E27FC236}">
                <a16:creationId xmlns:a16="http://schemas.microsoft.com/office/drawing/2014/main" id="{0327A5D7-CCB5-156C-B6BC-FA835B37EC59}"/>
              </a:ext>
            </a:extLst>
          </p:cNvPr>
          <p:cNvPicPr>
            <a:picLocks noChangeAspect="1" noChangeArrowheads="1"/>
          </p:cNvPicPr>
          <p:nvPr/>
        </p:nvPicPr>
        <p:blipFill rotWithShape="1">
          <a:blip r:embed="rId9">
            <a:extLst>
              <a:ext uri="{28A0092B-C50C-407E-A947-70E740481C1C}">
                <a14:useLocalDpi xmlns:a14="http://schemas.microsoft.com/office/drawing/2010/main" val="0"/>
              </a:ext>
            </a:extLst>
          </a:blip>
          <a:srcRect t="11820" r="45882" b="55395"/>
          <a:stretch>
            <a:fillRect/>
          </a:stretch>
        </p:blipFill>
        <p:spPr bwMode="auto">
          <a:xfrm>
            <a:off x="11274084" y="3419765"/>
            <a:ext cx="3689555" cy="1206944"/>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19">
            <a:extLst>
              <a:ext uri="{FF2B5EF4-FFF2-40B4-BE49-F238E27FC236}">
                <a16:creationId xmlns:a16="http://schemas.microsoft.com/office/drawing/2014/main" id="{3E2DDE4A-7ECC-91F8-9EA7-F8A121B46A9E}"/>
              </a:ext>
            </a:extLst>
          </p:cNvPr>
          <p:cNvPicPr>
            <a:picLocks noChangeAspect="1"/>
          </p:cNvPicPr>
          <p:nvPr/>
        </p:nvPicPr>
        <p:blipFill>
          <a:blip r:embed="rId10"/>
          <a:stretch>
            <a:fillRect/>
          </a:stretch>
        </p:blipFill>
        <p:spPr>
          <a:xfrm>
            <a:off x="14312424" y="3514954"/>
            <a:ext cx="395062" cy="395062"/>
          </a:xfrm>
          <a:prstGeom prst="rect">
            <a:avLst/>
          </a:prstGeom>
        </p:spPr>
      </p:pic>
      <p:pic>
        <p:nvPicPr>
          <p:cNvPr id="1042" name="Picture 18" descr="Introduction To PyTorch — Requirements &amp; Installation | by hemalbuha |  Medium">
            <a:extLst>
              <a:ext uri="{FF2B5EF4-FFF2-40B4-BE49-F238E27FC236}">
                <a16:creationId xmlns:a16="http://schemas.microsoft.com/office/drawing/2014/main" id="{37A96935-8517-A951-2C44-F15A0F91D669}"/>
              </a:ext>
            </a:extLst>
          </p:cNvPr>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14249400" y="6699359"/>
            <a:ext cx="2833687" cy="184128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5652205" y="9565386"/>
            <a:ext cx="2407958" cy="661283"/>
            <a:chOff x="0" y="0"/>
            <a:chExt cx="634195" cy="174165"/>
          </a:xfrm>
        </p:grpSpPr>
        <p:sp>
          <p:nvSpPr>
            <p:cNvPr id="3" name="Freeform 3"/>
            <p:cNvSpPr/>
            <p:nvPr/>
          </p:nvSpPr>
          <p:spPr>
            <a:xfrm>
              <a:off x="0" y="0"/>
              <a:ext cx="634195" cy="174165"/>
            </a:xfrm>
            <a:custGeom>
              <a:avLst/>
              <a:gdLst/>
              <a:ahLst/>
              <a:cxnLst/>
              <a:rect l="l" t="t" r="r" b="b"/>
              <a:pathLst>
                <a:path w="634195" h="174165">
                  <a:moveTo>
                    <a:pt x="87083" y="0"/>
                  </a:moveTo>
                  <a:lnTo>
                    <a:pt x="547112" y="0"/>
                  </a:lnTo>
                  <a:cubicBezTo>
                    <a:pt x="570208" y="0"/>
                    <a:pt x="592358" y="9175"/>
                    <a:pt x="608689" y="25506"/>
                  </a:cubicBezTo>
                  <a:cubicBezTo>
                    <a:pt x="625020" y="41837"/>
                    <a:pt x="634195" y="63987"/>
                    <a:pt x="634195" y="87083"/>
                  </a:cubicBezTo>
                  <a:lnTo>
                    <a:pt x="634195" y="87083"/>
                  </a:lnTo>
                  <a:cubicBezTo>
                    <a:pt x="634195" y="110178"/>
                    <a:pt x="625020" y="132328"/>
                    <a:pt x="608689" y="148659"/>
                  </a:cubicBezTo>
                  <a:cubicBezTo>
                    <a:pt x="592358" y="164990"/>
                    <a:pt x="570208" y="174165"/>
                    <a:pt x="547112" y="174165"/>
                  </a:cubicBezTo>
                  <a:lnTo>
                    <a:pt x="87083" y="174165"/>
                  </a:lnTo>
                  <a:cubicBezTo>
                    <a:pt x="63987" y="174165"/>
                    <a:pt x="41837" y="164990"/>
                    <a:pt x="25506" y="148659"/>
                  </a:cubicBezTo>
                  <a:cubicBezTo>
                    <a:pt x="9175" y="132328"/>
                    <a:pt x="0" y="110178"/>
                    <a:pt x="0" y="87083"/>
                  </a:cubicBezTo>
                  <a:lnTo>
                    <a:pt x="0" y="87083"/>
                  </a:lnTo>
                  <a:cubicBezTo>
                    <a:pt x="0" y="63987"/>
                    <a:pt x="9175" y="41837"/>
                    <a:pt x="25506" y="25506"/>
                  </a:cubicBezTo>
                  <a:cubicBezTo>
                    <a:pt x="41837" y="9175"/>
                    <a:pt x="63987" y="0"/>
                    <a:pt x="87083" y="0"/>
                  </a:cubicBezTo>
                  <a:close/>
                </a:path>
              </a:pathLst>
            </a:custGeom>
            <a:solidFill>
              <a:srgbClr val="98C4EC"/>
            </a:solidFill>
          </p:spPr>
        </p:sp>
        <p:sp>
          <p:nvSpPr>
            <p:cNvPr id="4" name="TextBox 4"/>
            <p:cNvSpPr txBox="1"/>
            <p:nvPr/>
          </p:nvSpPr>
          <p:spPr>
            <a:xfrm>
              <a:off x="0" y="-57150"/>
              <a:ext cx="634195" cy="231315"/>
            </a:xfrm>
            <a:prstGeom prst="rect">
              <a:avLst/>
            </a:prstGeom>
          </p:spPr>
          <p:txBody>
            <a:bodyPr lIns="50800" tIns="50800" rIns="50800" bIns="50800" rtlCol="0" anchor="ctr"/>
            <a:lstStyle/>
            <a:p>
              <a:pPr algn="ctr">
                <a:lnSpc>
                  <a:spcPts val="3919"/>
                </a:lnSpc>
              </a:pPr>
              <a:r>
                <a:rPr lang="en-US" sz="2799" b="1" dirty="0">
                  <a:solidFill>
                    <a:srgbClr val="FFFFFF"/>
                  </a:solidFill>
                  <a:latin typeface="Times New Roman" panose="02020603050405020304" pitchFamily="18" charset="0"/>
                  <a:ea typeface="Neue Montreal Bold"/>
                  <a:cs typeface="Times New Roman" panose="02020603050405020304" pitchFamily="18" charset="0"/>
                  <a:sym typeface="Neue Montreal Bold"/>
                </a:rPr>
                <a:t>GROUP-13</a:t>
              </a:r>
            </a:p>
          </p:txBody>
        </p:sp>
      </p:grpSp>
      <p:sp>
        <p:nvSpPr>
          <p:cNvPr id="7" name="Freeform 7"/>
          <p:cNvSpPr/>
          <p:nvPr/>
        </p:nvSpPr>
        <p:spPr>
          <a:xfrm>
            <a:off x="131324" y="9358753"/>
            <a:ext cx="2275834" cy="772925"/>
          </a:xfrm>
          <a:custGeom>
            <a:avLst/>
            <a:gdLst/>
            <a:ahLst/>
            <a:cxnLst/>
            <a:rect l="l" t="t" r="r" b="b"/>
            <a:pathLst>
              <a:path w="2275834" h="772925">
                <a:moveTo>
                  <a:pt x="0" y="0"/>
                </a:moveTo>
                <a:lnTo>
                  <a:pt x="2275834" y="0"/>
                </a:lnTo>
                <a:lnTo>
                  <a:pt x="2275834" y="772925"/>
                </a:lnTo>
                <a:lnTo>
                  <a:pt x="0" y="772925"/>
                </a:lnTo>
                <a:lnTo>
                  <a:pt x="0" y="0"/>
                </a:lnTo>
                <a:close/>
              </a:path>
            </a:pathLst>
          </a:custGeom>
          <a:blipFill>
            <a:blip r:embed="rId2"/>
            <a:stretch>
              <a:fillRect/>
            </a:stretch>
          </a:blipFill>
        </p:spPr>
      </p:sp>
      <p:sp>
        <p:nvSpPr>
          <p:cNvPr id="8" name="AutoShape 8"/>
          <p:cNvSpPr/>
          <p:nvPr/>
        </p:nvSpPr>
        <p:spPr>
          <a:xfrm>
            <a:off x="2930000" y="9696477"/>
            <a:ext cx="12198330" cy="0"/>
          </a:xfrm>
          <a:prstGeom prst="line">
            <a:avLst/>
          </a:prstGeom>
          <a:ln w="28575" cap="flat">
            <a:solidFill>
              <a:srgbClr val="AA1313"/>
            </a:solidFill>
            <a:prstDash val="solid"/>
            <a:headEnd type="none" w="sm" len="sm"/>
            <a:tailEnd type="none" w="sm" len="sm"/>
          </a:ln>
        </p:spPr>
      </p:sp>
      <p:sp>
        <p:nvSpPr>
          <p:cNvPr id="10" name="TextBox 10"/>
          <p:cNvSpPr txBox="1"/>
          <p:nvPr/>
        </p:nvSpPr>
        <p:spPr>
          <a:xfrm>
            <a:off x="6707753" y="366565"/>
            <a:ext cx="4106441" cy="932948"/>
          </a:xfrm>
          <a:prstGeom prst="rect">
            <a:avLst/>
          </a:prstGeom>
        </p:spPr>
        <p:txBody>
          <a:bodyPr wrap="square" lIns="0" tIns="0" rIns="0" bIns="0" rtlCol="0" anchor="t">
            <a:spAutoFit/>
          </a:bodyPr>
          <a:lstStyle/>
          <a:p>
            <a:pPr algn="just">
              <a:lnSpc>
                <a:spcPts val="7681"/>
              </a:lnSpc>
            </a:pPr>
            <a:r>
              <a:rPr lang="en-US" sz="6400" b="1" spc="-384" dirty="0">
                <a:solidFill>
                  <a:srgbClr val="020202"/>
                </a:solidFill>
                <a:latin typeface="Times New Roman" panose="02020603050405020304" pitchFamily="18" charset="0"/>
                <a:ea typeface="Goudy Bold"/>
                <a:cs typeface="Times New Roman" panose="02020603050405020304" pitchFamily="18" charset="0"/>
                <a:sym typeface="Goudy Bold"/>
              </a:rPr>
              <a:t>Methodology</a:t>
            </a:r>
          </a:p>
        </p:txBody>
      </p:sp>
      <p:sp>
        <p:nvSpPr>
          <p:cNvPr id="11" name="TextBox 11"/>
          <p:cNvSpPr txBox="1"/>
          <p:nvPr/>
        </p:nvSpPr>
        <p:spPr>
          <a:xfrm>
            <a:off x="1843642" y="9697590"/>
            <a:ext cx="9399570" cy="329386"/>
          </a:xfrm>
          <a:prstGeom prst="rect">
            <a:avLst/>
          </a:prstGeom>
        </p:spPr>
        <p:txBody>
          <a:bodyPr lIns="0" tIns="0" rIns="0" bIns="0" rtlCol="0" anchor="t">
            <a:spAutoFit/>
          </a:bodyPr>
          <a:lstStyle/>
          <a:p>
            <a:pPr algn="ctr">
              <a:lnSpc>
                <a:spcPts val="2800"/>
              </a:lnSpc>
            </a:pPr>
            <a:r>
              <a:rPr lang="en-US" sz="2000" b="1">
                <a:solidFill>
                  <a:srgbClr val="5C2D88"/>
                </a:solidFill>
                <a:latin typeface="Times New Roman" panose="02020603050405020304" pitchFamily="18" charset="0"/>
                <a:ea typeface="Canva Sans Bold"/>
                <a:cs typeface="Times New Roman" panose="02020603050405020304" pitchFamily="18" charset="0"/>
                <a:sym typeface="Canva Sans Bold"/>
              </a:rPr>
              <a:t>Nagpur | Pune | Jalgaon | Amravati | Pandhura | Bhandara</a:t>
            </a:r>
          </a:p>
        </p:txBody>
      </p:sp>
      <p:sp>
        <p:nvSpPr>
          <p:cNvPr id="15" name="Freeform 6">
            <a:extLst>
              <a:ext uri="{FF2B5EF4-FFF2-40B4-BE49-F238E27FC236}">
                <a16:creationId xmlns:a16="http://schemas.microsoft.com/office/drawing/2014/main" id="{CC857E0C-6112-823E-710E-DAAE24CD6773}"/>
              </a:ext>
            </a:extLst>
          </p:cNvPr>
          <p:cNvSpPr/>
          <p:nvPr/>
        </p:nvSpPr>
        <p:spPr>
          <a:xfrm>
            <a:off x="15860376" y="-564091"/>
            <a:ext cx="2603115" cy="2603115"/>
          </a:xfrm>
          <a:custGeom>
            <a:avLst/>
            <a:gdLst/>
            <a:ahLst/>
            <a:cxnLst/>
            <a:rect l="l" t="t" r="r" b="b"/>
            <a:pathLst>
              <a:path w="2603115" h="2603115">
                <a:moveTo>
                  <a:pt x="0" y="0"/>
                </a:moveTo>
                <a:lnTo>
                  <a:pt x="2603114" y="0"/>
                </a:lnTo>
                <a:lnTo>
                  <a:pt x="2603114" y="2603115"/>
                </a:lnTo>
                <a:lnTo>
                  <a:pt x="0" y="2603115"/>
                </a:lnTo>
                <a:lnTo>
                  <a:pt x="0" y="0"/>
                </a:lnTo>
                <a:close/>
              </a:path>
            </a:pathLst>
          </a:custGeom>
          <a:blipFill>
            <a:blip r:embed="rId3"/>
            <a:stretch>
              <a:fillRect/>
            </a:stretch>
          </a:blipFill>
        </p:spPr>
        <p:txBody>
          <a:bodyPr/>
          <a:lstStyle/>
          <a:p>
            <a:endParaRPr lang="en-US" dirty="0">
              <a:latin typeface="Times New Roman" panose="02020603050405020304" pitchFamily="18" charset="0"/>
              <a:cs typeface="Times New Roman" panose="02020603050405020304" pitchFamily="18" charset="0"/>
            </a:endParaRPr>
          </a:p>
        </p:txBody>
      </p:sp>
      <p:sp>
        <p:nvSpPr>
          <p:cNvPr id="16" name="Freeform 7">
            <a:extLst>
              <a:ext uri="{FF2B5EF4-FFF2-40B4-BE49-F238E27FC236}">
                <a16:creationId xmlns:a16="http://schemas.microsoft.com/office/drawing/2014/main" id="{6EECAC61-2C34-C1B8-BBCA-B56D25A1C906}"/>
              </a:ext>
            </a:extLst>
          </p:cNvPr>
          <p:cNvSpPr/>
          <p:nvPr/>
        </p:nvSpPr>
        <p:spPr>
          <a:xfrm>
            <a:off x="195882" y="297058"/>
            <a:ext cx="3094349" cy="1450639"/>
          </a:xfrm>
          <a:custGeom>
            <a:avLst/>
            <a:gdLst/>
            <a:ahLst/>
            <a:cxnLst/>
            <a:rect l="l" t="t" r="r" b="b"/>
            <a:pathLst>
              <a:path w="3094349" h="1450639">
                <a:moveTo>
                  <a:pt x="0" y="0"/>
                </a:moveTo>
                <a:lnTo>
                  <a:pt x="3094349" y="0"/>
                </a:lnTo>
                <a:lnTo>
                  <a:pt x="3094349" y="1450639"/>
                </a:lnTo>
                <a:lnTo>
                  <a:pt x="0" y="1450639"/>
                </a:lnTo>
                <a:lnTo>
                  <a:pt x="0" y="0"/>
                </a:lnTo>
                <a:close/>
              </a:path>
            </a:pathLst>
          </a:custGeom>
          <a:blipFill>
            <a:blip r:embed="rId4"/>
            <a:stretch>
              <a:fillRect/>
            </a:stretch>
          </a:blipFill>
        </p:spPr>
        <p:txBody>
          <a:bodyPr/>
          <a:lstStyle/>
          <a:p>
            <a:endParaRPr lang="en-US"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EE6A707D-0A9A-A9E2-9422-2A93752D6AFE}"/>
              </a:ext>
            </a:extLst>
          </p:cNvPr>
          <p:cNvPicPr>
            <a:picLocks noChangeAspect="1"/>
          </p:cNvPicPr>
          <p:nvPr/>
        </p:nvPicPr>
        <p:blipFill>
          <a:blip r:embed="rId5">
            <a:extLst>
              <a:ext uri="{BEBA8EAE-BF5A-486C-A8C5-ECC9F3942E4B}">
                <a14:imgProps xmlns:a14="http://schemas.microsoft.com/office/drawing/2010/main">
                  <a14:imgLayer r:embed="rId6">
                    <a14:imgEffect>
                      <a14:sharpenSoften amount="25000"/>
                    </a14:imgEffect>
                  </a14:imgLayer>
                </a14:imgProps>
              </a:ext>
            </a:extLst>
          </a:blip>
          <a:stretch>
            <a:fillRect/>
          </a:stretch>
        </p:blipFill>
        <p:spPr>
          <a:xfrm>
            <a:off x="324332" y="1596626"/>
            <a:ext cx="17794825" cy="7540557"/>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015016" y="190500"/>
            <a:ext cx="12444184" cy="932948"/>
          </a:xfrm>
          <a:prstGeom prst="rect">
            <a:avLst/>
          </a:prstGeom>
        </p:spPr>
        <p:txBody>
          <a:bodyPr lIns="0" tIns="0" rIns="0" bIns="0" rtlCol="0" anchor="t">
            <a:spAutoFit/>
          </a:bodyPr>
          <a:lstStyle/>
          <a:p>
            <a:pPr algn="l">
              <a:lnSpc>
                <a:spcPts val="7681"/>
              </a:lnSpc>
            </a:pPr>
            <a:r>
              <a:rPr lang="en-US" sz="6400" b="1" spc="-384" dirty="0">
                <a:solidFill>
                  <a:srgbClr val="000000"/>
                </a:solidFill>
                <a:latin typeface="Times New Roman" panose="02020603050405020304" pitchFamily="18" charset="0"/>
                <a:ea typeface="Goudy Bold"/>
                <a:cs typeface="Times New Roman" panose="02020603050405020304" pitchFamily="18" charset="0"/>
                <a:sym typeface="Goudy Bold"/>
              </a:rPr>
              <a:t>FEASIBILITY AND VIABILITY</a:t>
            </a:r>
          </a:p>
        </p:txBody>
      </p:sp>
      <p:grpSp>
        <p:nvGrpSpPr>
          <p:cNvPr id="3" name="Group 3"/>
          <p:cNvGrpSpPr/>
          <p:nvPr/>
        </p:nvGrpSpPr>
        <p:grpSpPr>
          <a:xfrm>
            <a:off x="15652205" y="9565386"/>
            <a:ext cx="2407958" cy="661283"/>
            <a:chOff x="0" y="0"/>
            <a:chExt cx="634195" cy="174165"/>
          </a:xfrm>
        </p:grpSpPr>
        <p:sp>
          <p:nvSpPr>
            <p:cNvPr id="4" name="Freeform 4"/>
            <p:cNvSpPr/>
            <p:nvPr/>
          </p:nvSpPr>
          <p:spPr>
            <a:xfrm>
              <a:off x="0" y="0"/>
              <a:ext cx="634195" cy="174165"/>
            </a:xfrm>
            <a:custGeom>
              <a:avLst/>
              <a:gdLst/>
              <a:ahLst/>
              <a:cxnLst/>
              <a:rect l="l" t="t" r="r" b="b"/>
              <a:pathLst>
                <a:path w="634195" h="174165">
                  <a:moveTo>
                    <a:pt x="87083" y="0"/>
                  </a:moveTo>
                  <a:lnTo>
                    <a:pt x="547112" y="0"/>
                  </a:lnTo>
                  <a:cubicBezTo>
                    <a:pt x="570208" y="0"/>
                    <a:pt x="592358" y="9175"/>
                    <a:pt x="608689" y="25506"/>
                  </a:cubicBezTo>
                  <a:cubicBezTo>
                    <a:pt x="625020" y="41837"/>
                    <a:pt x="634195" y="63987"/>
                    <a:pt x="634195" y="87083"/>
                  </a:cubicBezTo>
                  <a:lnTo>
                    <a:pt x="634195" y="87083"/>
                  </a:lnTo>
                  <a:cubicBezTo>
                    <a:pt x="634195" y="110178"/>
                    <a:pt x="625020" y="132328"/>
                    <a:pt x="608689" y="148659"/>
                  </a:cubicBezTo>
                  <a:cubicBezTo>
                    <a:pt x="592358" y="164990"/>
                    <a:pt x="570208" y="174165"/>
                    <a:pt x="547112" y="174165"/>
                  </a:cubicBezTo>
                  <a:lnTo>
                    <a:pt x="87083" y="174165"/>
                  </a:lnTo>
                  <a:cubicBezTo>
                    <a:pt x="63987" y="174165"/>
                    <a:pt x="41837" y="164990"/>
                    <a:pt x="25506" y="148659"/>
                  </a:cubicBezTo>
                  <a:cubicBezTo>
                    <a:pt x="9175" y="132328"/>
                    <a:pt x="0" y="110178"/>
                    <a:pt x="0" y="87083"/>
                  </a:cubicBezTo>
                  <a:lnTo>
                    <a:pt x="0" y="87083"/>
                  </a:lnTo>
                  <a:cubicBezTo>
                    <a:pt x="0" y="63987"/>
                    <a:pt x="9175" y="41837"/>
                    <a:pt x="25506" y="25506"/>
                  </a:cubicBezTo>
                  <a:cubicBezTo>
                    <a:pt x="41837" y="9175"/>
                    <a:pt x="63987" y="0"/>
                    <a:pt x="87083" y="0"/>
                  </a:cubicBezTo>
                  <a:close/>
                </a:path>
              </a:pathLst>
            </a:custGeom>
            <a:solidFill>
              <a:srgbClr val="98C4EC"/>
            </a:solidFill>
          </p:spPr>
        </p:sp>
        <p:sp>
          <p:nvSpPr>
            <p:cNvPr id="5" name="TextBox 5"/>
            <p:cNvSpPr txBox="1"/>
            <p:nvPr/>
          </p:nvSpPr>
          <p:spPr>
            <a:xfrm>
              <a:off x="0" y="-57150"/>
              <a:ext cx="634195" cy="231315"/>
            </a:xfrm>
            <a:prstGeom prst="rect">
              <a:avLst/>
            </a:prstGeom>
          </p:spPr>
          <p:txBody>
            <a:bodyPr lIns="50800" tIns="50800" rIns="50800" bIns="50800" rtlCol="0" anchor="ctr"/>
            <a:lstStyle/>
            <a:p>
              <a:pPr algn="ctr">
                <a:lnSpc>
                  <a:spcPts val="3919"/>
                </a:lnSpc>
              </a:pPr>
              <a:r>
                <a:rPr lang="en-US" sz="2799" b="1" dirty="0">
                  <a:solidFill>
                    <a:srgbClr val="FFFFFF"/>
                  </a:solidFill>
                  <a:latin typeface="Times New Roman" panose="02020603050405020304" pitchFamily="18" charset="0"/>
                  <a:ea typeface="Neue Montreal Bold"/>
                  <a:cs typeface="Times New Roman" panose="02020603050405020304" pitchFamily="18" charset="0"/>
                  <a:sym typeface="Neue Montreal Bold"/>
                </a:rPr>
                <a:t>GROUP-13</a:t>
              </a:r>
            </a:p>
          </p:txBody>
        </p:sp>
      </p:grpSp>
      <p:sp>
        <p:nvSpPr>
          <p:cNvPr id="8" name="Freeform 8"/>
          <p:cNvSpPr/>
          <p:nvPr/>
        </p:nvSpPr>
        <p:spPr>
          <a:xfrm>
            <a:off x="76200" y="9486900"/>
            <a:ext cx="2275834" cy="772925"/>
          </a:xfrm>
          <a:custGeom>
            <a:avLst/>
            <a:gdLst/>
            <a:ahLst/>
            <a:cxnLst/>
            <a:rect l="l" t="t" r="r" b="b"/>
            <a:pathLst>
              <a:path w="2275834" h="772925">
                <a:moveTo>
                  <a:pt x="0" y="0"/>
                </a:moveTo>
                <a:lnTo>
                  <a:pt x="2275834" y="0"/>
                </a:lnTo>
                <a:lnTo>
                  <a:pt x="2275834" y="772925"/>
                </a:lnTo>
                <a:lnTo>
                  <a:pt x="0" y="772925"/>
                </a:lnTo>
                <a:lnTo>
                  <a:pt x="0" y="0"/>
                </a:lnTo>
                <a:close/>
              </a:path>
            </a:pathLst>
          </a:custGeom>
          <a:blipFill>
            <a:blip r:embed="rId2"/>
            <a:stretch>
              <a:fillRect/>
            </a:stretch>
          </a:blipFill>
        </p:spPr>
      </p:sp>
      <p:sp>
        <p:nvSpPr>
          <p:cNvPr id="9" name="AutoShape 9"/>
          <p:cNvSpPr/>
          <p:nvPr/>
        </p:nvSpPr>
        <p:spPr>
          <a:xfrm>
            <a:off x="2930000" y="9696477"/>
            <a:ext cx="12198330" cy="0"/>
          </a:xfrm>
          <a:prstGeom prst="line">
            <a:avLst/>
          </a:prstGeom>
          <a:ln w="28575" cap="flat">
            <a:solidFill>
              <a:srgbClr val="AA1313"/>
            </a:solidFill>
            <a:prstDash val="solid"/>
            <a:headEnd type="none" w="sm" len="sm"/>
            <a:tailEnd type="none" w="sm" len="sm"/>
          </a:ln>
        </p:spPr>
      </p:sp>
      <p:sp>
        <p:nvSpPr>
          <p:cNvPr id="10" name="TextBox 10"/>
          <p:cNvSpPr txBox="1"/>
          <p:nvPr/>
        </p:nvSpPr>
        <p:spPr>
          <a:xfrm>
            <a:off x="1843642" y="9697590"/>
            <a:ext cx="9399570" cy="329386"/>
          </a:xfrm>
          <a:prstGeom prst="rect">
            <a:avLst/>
          </a:prstGeom>
        </p:spPr>
        <p:txBody>
          <a:bodyPr lIns="0" tIns="0" rIns="0" bIns="0" rtlCol="0" anchor="t">
            <a:spAutoFit/>
          </a:bodyPr>
          <a:lstStyle/>
          <a:p>
            <a:pPr algn="ctr">
              <a:lnSpc>
                <a:spcPts val="2800"/>
              </a:lnSpc>
            </a:pPr>
            <a:r>
              <a:rPr lang="en-US" sz="2000" b="1">
                <a:solidFill>
                  <a:srgbClr val="5C2D88"/>
                </a:solidFill>
                <a:latin typeface="Times New Roman" panose="02020603050405020304" pitchFamily="18" charset="0"/>
                <a:ea typeface="Canva Sans Bold"/>
                <a:cs typeface="Times New Roman" panose="02020603050405020304" pitchFamily="18" charset="0"/>
                <a:sym typeface="Canva Sans Bold"/>
              </a:rPr>
              <a:t>Nagpur | Pune | Jalgaon | Amravati | Pandhura | Bhandara</a:t>
            </a:r>
          </a:p>
        </p:txBody>
      </p:sp>
      <p:sp>
        <p:nvSpPr>
          <p:cNvPr id="11" name="TextBox 11"/>
          <p:cNvSpPr txBox="1"/>
          <p:nvPr/>
        </p:nvSpPr>
        <p:spPr>
          <a:xfrm>
            <a:off x="1524000" y="1775556"/>
            <a:ext cx="16459200" cy="8092344"/>
          </a:xfrm>
          <a:prstGeom prst="rect">
            <a:avLst/>
          </a:prstGeom>
        </p:spPr>
        <p:txBody>
          <a:bodyPr wrap="square" lIns="0" tIns="0" rIns="0" bIns="0" rtlCol="0" anchor="t">
            <a:spAutoFit/>
          </a:bodyPr>
          <a:lstStyle/>
          <a:p>
            <a:r>
              <a:rPr lang="en-US" sz="3000" b="1" dirty="0">
                <a:latin typeface="Times New Roman" panose="02020603050405020304" pitchFamily="18" charset="0"/>
                <a:cs typeface="Times New Roman" panose="02020603050405020304" pitchFamily="18" charset="0"/>
              </a:rPr>
              <a:t>1. Analysis of the Feasibility of the Idea</a:t>
            </a:r>
            <a:br>
              <a:rPr lang="en-US" sz="3000" dirty="0">
                <a:latin typeface="Times New Roman" panose="02020603050405020304" pitchFamily="18" charset="0"/>
                <a:cs typeface="Times New Roman" panose="02020603050405020304" pitchFamily="18" charset="0"/>
              </a:rPr>
            </a:br>
            <a:r>
              <a:rPr lang="en-US" sz="3000" dirty="0">
                <a:latin typeface="Times New Roman" panose="02020603050405020304" pitchFamily="18" charset="0"/>
                <a:cs typeface="Times New Roman" panose="02020603050405020304" pitchFamily="18" charset="0"/>
              </a:rPr>
              <a:t>The proposed </a:t>
            </a:r>
            <a:r>
              <a:rPr lang="en-US" sz="3000" b="1" dirty="0">
                <a:latin typeface="Times New Roman" panose="02020603050405020304" pitchFamily="18" charset="0"/>
                <a:cs typeface="Times New Roman" panose="02020603050405020304" pitchFamily="18" charset="0"/>
              </a:rPr>
              <a:t>AI-based Code Review System</a:t>
            </a:r>
            <a:r>
              <a:rPr lang="en-US" sz="3000" dirty="0">
                <a:latin typeface="Times New Roman" panose="02020603050405020304" pitchFamily="18" charset="0"/>
                <a:cs typeface="Times New Roman" panose="02020603050405020304" pitchFamily="18" charset="0"/>
              </a:rPr>
              <a:t> is feasible because it uses </a:t>
            </a:r>
            <a:r>
              <a:rPr lang="en-US" sz="3000" b="1" dirty="0" err="1">
                <a:latin typeface="Times New Roman" panose="02020603050405020304" pitchFamily="18" charset="0"/>
                <a:cs typeface="Times New Roman" panose="02020603050405020304" pitchFamily="18" charset="0"/>
              </a:rPr>
              <a:t>CodeBERT</a:t>
            </a:r>
            <a:r>
              <a:rPr lang="en-US" sz="3000" b="1" dirty="0">
                <a:latin typeface="Times New Roman" panose="02020603050405020304" pitchFamily="18" charset="0"/>
                <a:cs typeface="Times New Roman" panose="02020603050405020304" pitchFamily="18" charset="0"/>
              </a:rPr>
              <a:t>, a pre-trained transformer model</a:t>
            </a:r>
            <a:r>
              <a:rPr lang="en-US" sz="3000" dirty="0">
                <a:latin typeface="Times New Roman" panose="02020603050405020304" pitchFamily="18" charset="0"/>
                <a:cs typeface="Times New Roman" panose="02020603050405020304" pitchFamily="18" charset="0"/>
              </a:rPr>
              <a:t> designed for understanding programming languages and natural language. </a:t>
            </a:r>
            <a:r>
              <a:rPr lang="en-US" sz="3000" dirty="0" err="1">
                <a:latin typeface="Times New Roman" panose="02020603050405020304" pitchFamily="18" charset="0"/>
                <a:cs typeface="Times New Roman" panose="02020603050405020304" pitchFamily="18" charset="0"/>
              </a:rPr>
              <a:t>CodeBERT</a:t>
            </a:r>
            <a:r>
              <a:rPr lang="en-US" sz="3000" dirty="0">
                <a:latin typeface="Times New Roman" panose="02020603050405020304" pitchFamily="18" charset="0"/>
                <a:cs typeface="Times New Roman" panose="02020603050405020304" pitchFamily="18" charset="0"/>
              </a:rPr>
              <a:t> can analyze source code, detect errors, and provide suggestions for improvement. The system is implemented through a web interface where users can submit their code, and the model processes it to identify issues and recommend corrections. Since </a:t>
            </a:r>
            <a:r>
              <a:rPr lang="en-US" sz="3000" dirty="0" err="1">
                <a:latin typeface="Times New Roman" panose="02020603050405020304" pitchFamily="18" charset="0"/>
                <a:cs typeface="Times New Roman" panose="02020603050405020304" pitchFamily="18" charset="0"/>
              </a:rPr>
              <a:t>CodeBERT</a:t>
            </a:r>
            <a:r>
              <a:rPr lang="en-US" sz="3000" dirty="0">
                <a:latin typeface="Times New Roman" panose="02020603050405020304" pitchFamily="18" charset="0"/>
                <a:cs typeface="Times New Roman" panose="02020603050405020304" pitchFamily="18" charset="0"/>
              </a:rPr>
              <a:t> is already trained on large code datasets, it reduces development time and improves the accuracy of code analysis.</a:t>
            </a:r>
          </a:p>
          <a:p>
            <a:r>
              <a:rPr lang="en-US" sz="3000" b="1" dirty="0">
                <a:latin typeface="Times New Roman" panose="02020603050405020304" pitchFamily="18" charset="0"/>
                <a:cs typeface="Times New Roman" panose="02020603050405020304" pitchFamily="18" charset="0"/>
              </a:rPr>
              <a:t>2. Potential Challenges and Risks</a:t>
            </a:r>
            <a:endParaRPr lang="en-US" sz="3000" dirty="0">
              <a:latin typeface="Times New Roman" panose="02020603050405020304" pitchFamily="18" charset="0"/>
              <a:cs typeface="Times New Roman" panose="02020603050405020304" pitchFamily="18" charset="0"/>
            </a:endParaRPr>
          </a:p>
          <a:p>
            <a:r>
              <a:rPr lang="en-US" sz="3000" dirty="0">
                <a:latin typeface="Times New Roman" panose="02020603050405020304" pitchFamily="18" charset="0"/>
                <a:cs typeface="Times New Roman" panose="02020603050405020304" pitchFamily="18" charset="0"/>
              </a:rPr>
              <a:t>Ensuring accurate </a:t>
            </a:r>
            <a:r>
              <a:rPr lang="en-US" sz="3000" b="1" dirty="0">
                <a:latin typeface="Times New Roman" panose="02020603050405020304" pitchFamily="18" charset="0"/>
                <a:cs typeface="Times New Roman" panose="02020603050405020304" pitchFamily="18" charset="0"/>
              </a:rPr>
              <a:t>error detection and correction suggestions</a:t>
            </a:r>
            <a:r>
              <a:rPr lang="en-US" sz="3000" dirty="0">
                <a:latin typeface="Times New Roman" panose="02020603050405020304" pitchFamily="18" charset="0"/>
                <a:cs typeface="Times New Roman" panose="02020603050405020304" pitchFamily="18" charset="0"/>
              </a:rPr>
              <a:t> for different programming languages.</a:t>
            </a:r>
          </a:p>
          <a:p>
            <a:r>
              <a:rPr lang="en-US" sz="3000" dirty="0">
                <a:latin typeface="Times New Roman" panose="02020603050405020304" pitchFamily="18" charset="0"/>
                <a:cs typeface="Times New Roman" panose="02020603050405020304" pitchFamily="18" charset="0"/>
              </a:rPr>
              <a:t>Handling </a:t>
            </a:r>
            <a:r>
              <a:rPr lang="en-US" sz="3000" b="1" dirty="0">
                <a:latin typeface="Times New Roman" panose="02020603050405020304" pitchFamily="18" charset="0"/>
                <a:cs typeface="Times New Roman" panose="02020603050405020304" pitchFamily="18" charset="0"/>
              </a:rPr>
              <a:t>large or complex code snippets</a:t>
            </a:r>
            <a:r>
              <a:rPr lang="en-US" sz="3000" dirty="0">
                <a:latin typeface="Times New Roman" panose="02020603050405020304" pitchFamily="18" charset="0"/>
                <a:cs typeface="Times New Roman" panose="02020603050405020304" pitchFamily="18" charset="0"/>
              </a:rPr>
              <a:t> that may require more processing time.</a:t>
            </a:r>
          </a:p>
          <a:p>
            <a:r>
              <a:rPr lang="en-US" sz="3000" dirty="0">
                <a:latin typeface="Times New Roman" panose="02020603050405020304" pitchFamily="18" charset="0"/>
                <a:cs typeface="Times New Roman" panose="02020603050405020304" pitchFamily="18" charset="0"/>
              </a:rPr>
              <a:t>Integrating the AI model smoothly with the web application and maintaining system performance.</a:t>
            </a:r>
          </a:p>
          <a:p>
            <a:r>
              <a:rPr lang="en-US" sz="3000" b="1" dirty="0">
                <a:latin typeface="Times New Roman" panose="02020603050405020304" pitchFamily="18" charset="0"/>
                <a:cs typeface="Times New Roman" panose="02020603050405020304" pitchFamily="18" charset="0"/>
              </a:rPr>
              <a:t>3. Strategies for Overcoming These Challenges</a:t>
            </a:r>
            <a:endParaRPr lang="en-US" sz="3000" dirty="0">
              <a:latin typeface="Times New Roman" panose="02020603050405020304" pitchFamily="18" charset="0"/>
              <a:cs typeface="Times New Roman" panose="02020603050405020304" pitchFamily="18" charset="0"/>
            </a:endParaRPr>
          </a:p>
          <a:p>
            <a:r>
              <a:rPr lang="en-US" sz="3000" dirty="0">
                <a:latin typeface="Times New Roman" panose="02020603050405020304" pitchFamily="18" charset="0"/>
                <a:cs typeface="Times New Roman" panose="02020603050405020304" pitchFamily="18" charset="0"/>
              </a:rPr>
              <a:t>Utilize the </a:t>
            </a:r>
            <a:r>
              <a:rPr lang="en-US" sz="3000" b="1" dirty="0">
                <a:latin typeface="Times New Roman" panose="02020603050405020304" pitchFamily="18" charset="0"/>
                <a:cs typeface="Times New Roman" panose="02020603050405020304" pitchFamily="18" charset="0"/>
              </a:rPr>
              <a:t>pre-trained capabilities of </a:t>
            </a:r>
            <a:r>
              <a:rPr lang="en-US" sz="3000" b="1" dirty="0" err="1">
                <a:latin typeface="Times New Roman" panose="02020603050405020304" pitchFamily="18" charset="0"/>
                <a:cs typeface="Times New Roman" panose="02020603050405020304" pitchFamily="18" charset="0"/>
              </a:rPr>
              <a:t>CodeBERT</a:t>
            </a:r>
            <a:r>
              <a:rPr lang="en-US" sz="3000" dirty="0">
                <a:latin typeface="Times New Roman" panose="02020603050405020304" pitchFamily="18" charset="0"/>
                <a:cs typeface="Times New Roman" panose="02020603050405020304" pitchFamily="18" charset="0"/>
              </a:rPr>
              <a:t> and fine-tune it for better code understanding.</a:t>
            </a:r>
          </a:p>
          <a:p>
            <a:r>
              <a:rPr lang="en-US" sz="3000" dirty="0">
                <a:latin typeface="Times New Roman" panose="02020603050405020304" pitchFamily="18" charset="0"/>
                <a:cs typeface="Times New Roman" panose="02020603050405020304" pitchFamily="18" charset="0"/>
              </a:rPr>
              <a:t>Optimize the system to process code efficiently and handle larger inputs.</a:t>
            </a:r>
          </a:p>
          <a:p>
            <a:r>
              <a:rPr lang="en-US" sz="3000" dirty="0">
                <a:latin typeface="Times New Roman" panose="02020603050405020304" pitchFamily="18" charset="0"/>
                <a:cs typeface="Times New Roman" panose="02020603050405020304" pitchFamily="18" charset="0"/>
              </a:rPr>
              <a:t>Implement proper backend architecture and testing to ensure reliable integration between the AI model and the application.</a:t>
            </a:r>
          </a:p>
          <a:p>
            <a:pPr>
              <a:lnSpc>
                <a:spcPts val="6440"/>
              </a:lnSpc>
            </a:pPr>
            <a:r>
              <a:rPr lang="en-US" sz="3000" dirty="0">
                <a:solidFill>
                  <a:srgbClr val="000000"/>
                </a:solidFill>
                <a:latin typeface="Times New Roman" panose="02020603050405020304" pitchFamily="18" charset="0"/>
                <a:ea typeface="DM Sans"/>
                <a:cs typeface="Times New Roman" panose="02020603050405020304" pitchFamily="18" charset="0"/>
                <a:sym typeface="DM Sans"/>
              </a:rPr>
              <a:t>.</a:t>
            </a:r>
          </a:p>
        </p:txBody>
      </p:sp>
      <p:sp>
        <p:nvSpPr>
          <p:cNvPr id="12" name="Freeform 12"/>
          <p:cNvSpPr/>
          <p:nvPr/>
        </p:nvSpPr>
        <p:spPr>
          <a:xfrm>
            <a:off x="4288580" y="2125105"/>
            <a:ext cx="9228841" cy="6523595"/>
          </a:xfrm>
          <a:custGeom>
            <a:avLst/>
            <a:gdLst/>
            <a:ahLst/>
            <a:cxnLst/>
            <a:rect l="l" t="t" r="r" b="b"/>
            <a:pathLst>
              <a:path w="9228841" h="6523595">
                <a:moveTo>
                  <a:pt x="0" y="0"/>
                </a:moveTo>
                <a:lnTo>
                  <a:pt x="9228841" y="0"/>
                </a:lnTo>
                <a:lnTo>
                  <a:pt x="9228841" y="6523596"/>
                </a:lnTo>
                <a:lnTo>
                  <a:pt x="0" y="6523596"/>
                </a:lnTo>
                <a:lnTo>
                  <a:pt x="0" y="0"/>
                </a:lnTo>
                <a:close/>
              </a:path>
            </a:pathLst>
          </a:custGeom>
          <a:blipFill>
            <a:blip r:embed="rId3">
              <a:alphaModFix amt="9999"/>
            </a:blip>
            <a:stretch>
              <a:fillRect l="-3515" t="-23221" b="-23221"/>
            </a:stretch>
          </a:blipFill>
        </p:spPr>
        <p:txBody>
          <a:bodyPr/>
          <a:lstStyle/>
          <a:p>
            <a:endParaRPr lang="en-IN" dirty="0"/>
          </a:p>
        </p:txBody>
      </p:sp>
      <p:sp>
        <p:nvSpPr>
          <p:cNvPr id="13" name="Freeform 6">
            <a:extLst>
              <a:ext uri="{FF2B5EF4-FFF2-40B4-BE49-F238E27FC236}">
                <a16:creationId xmlns:a16="http://schemas.microsoft.com/office/drawing/2014/main" id="{C127F7A9-AC52-7E53-92C7-C287A451B105}"/>
              </a:ext>
            </a:extLst>
          </p:cNvPr>
          <p:cNvSpPr/>
          <p:nvPr/>
        </p:nvSpPr>
        <p:spPr>
          <a:xfrm>
            <a:off x="15457048" y="-647700"/>
            <a:ext cx="2603115" cy="2603115"/>
          </a:xfrm>
          <a:custGeom>
            <a:avLst/>
            <a:gdLst/>
            <a:ahLst/>
            <a:cxnLst/>
            <a:rect l="l" t="t" r="r" b="b"/>
            <a:pathLst>
              <a:path w="2603115" h="2603115">
                <a:moveTo>
                  <a:pt x="0" y="0"/>
                </a:moveTo>
                <a:lnTo>
                  <a:pt x="2603114" y="0"/>
                </a:lnTo>
                <a:lnTo>
                  <a:pt x="2603114" y="2603115"/>
                </a:lnTo>
                <a:lnTo>
                  <a:pt x="0" y="2603115"/>
                </a:lnTo>
                <a:lnTo>
                  <a:pt x="0" y="0"/>
                </a:lnTo>
                <a:close/>
              </a:path>
            </a:pathLst>
          </a:custGeom>
          <a:blipFill>
            <a:blip r:embed="rId3"/>
            <a:stretch>
              <a:fillRect/>
            </a:stretch>
          </a:blipFill>
        </p:spPr>
        <p:txBody>
          <a:bodyPr/>
          <a:lstStyle/>
          <a:p>
            <a:endParaRPr lang="en-US" dirty="0">
              <a:latin typeface="Times New Roman" panose="02020603050405020304" pitchFamily="18" charset="0"/>
              <a:cs typeface="Times New Roman" panose="02020603050405020304" pitchFamily="18" charset="0"/>
            </a:endParaRPr>
          </a:p>
        </p:txBody>
      </p:sp>
      <p:sp>
        <p:nvSpPr>
          <p:cNvPr id="14" name="Freeform 7">
            <a:extLst>
              <a:ext uri="{FF2B5EF4-FFF2-40B4-BE49-F238E27FC236}">
                <a16:creationId xmlns:a16="http://schemas.microsoft.com/office/drawing/2014/main" id="{F9F0EAEE-B967-639A-F3A5-C4475EDC0C7E}"/>
              </a:ext>
            </a:extLst>
          </p:cNvPr>
          <p:cNvSpPr/>
          <p:nvPr/>
        </p:nvSpPr>
        <p:spPr>
          <a:xfrm>
            <a:off x="152400" y="114300"/>
            <a:ext cx="3094349" cy="1450639"/>
          </a:xfrm>
          <a:custGeom>
            <a:avLst/>
            <a:gdLst/>
            <a:ahLst/>
            <a:cxnLst/>
            <a:rect l="l" t="t" r="r" b="b"/>
            <a:pathLst>
              <a:path w="3094349" h="1450639">
                <a:moveTo>
                  <a:pt x="0" y="0"/>
                </a:moveTo>
                <a:lnTo>
                  <a:pt x="3094349" y="0"/>
                </a:lnTo>
                <a:lnTo>
                  <a:pt x="3094349" y="1450639"/>
                </a:lnTo>
                <a:lnTo>
                  <a:pt x="0" y="1450639"/>
                </a:lnTo>
                <a:lnTo>
                  <a:pt x="0" y="0"/>
                </a:lnTo>
                <a:close/>
              </a:path>
            </a:pathLst>
          </a:custGeom>
          <a:blipFill>
            <a:blip r:embed="rId4"/>
            <a:stretch>
              <a:fillRect/>
            </a:stretch>
          </a:blipFill>
        </p:spPr>
        <p:txBody>
          <a:bodyPr/>
          <a:lstStyle/>
          <a:p>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3477880" y="171952"/>
            <a:ext cx="12444184" cy="932948"/>
          </a:xfrm>
          <a:prstGeom prst="rect">
            <a:avLst/>
          </a:prstGeom>
        </p:spPr>
        <p:txBody>
          <a:bodyPr lIns="0" tIns="0" rIns="0" bIns="0" rtlCol="0" anchor="t">
            <a:spAutoFit/>
          </a:bodyPr>
          <a:lstStyle/>
          <a:p>
            <a:pPr algn="ctr">
              <a:lnSpc>
                <a:spcPts val="7681"/>
              </a:lnSpc>
            </a:pPr>
            <a:r>
              <a:rPr lang="en-US" sz="6400" b="1" spc="-384" dirty="0">
                <a:solidFill>
                  <a:srgbClr val="000000"/>
                </a:solidFill>
                <a:latin typeface="Times New Roman" panose="02020603050405020304" pitchFamily="18" charset="0"/>
                <a:ea typeface="Goudy Bold"/>
                <a:cs typeface="Times New Roman" panose="02020603050405020304" pitchFamily="18" charset="0"/>
                <a:sym typeface="Goudy Bold"/>
              </a:rPr>
              <a:t>IMPACT AND BENEFITS</a:t>
            </a:r>
          </a:p>
        </p:txBody>
      </p:sp>
      <p:grpSp>
        <p:nvGrpSpPr>
          <p:cNvPr id="3" name="Group 3"/>
          <p:cNvGrpSpPr/>
          <p:nvPr/>
        </p:nvGrpSpPr>
        <p:grpSpPr>
          <a:xfrm>
            <a:off x="15652205" y="9565386"/>
            <a:ext cx="2407958" cy="661283"/>
            <a:chOff x="0" y="0"/>
            <a:chExt cx="634195" cy="174165"/>
          </a:xfrm>
        </p:grpSpPr>
        <p:sp>
          <p:nvSpPr>
            <p:cNvPr id="4" name="Freeform 4"/>
            <p:cNvSpPr/>
            <p:nvPr/>
          </p:nvSpPr>
          <p:spPr>
            <a:xfrm>
              <a:off x="0" y="0"/>
              <a:ext cx="634195" cy="174165"/>
            </a:xfrm>
            <a:custGeom>
              <a:avLst/>
              <a:gdLst/>
              <a:ahLst/>
              <a:cxnLst/>
              <a:rect l="l" t="t" r="r" b="b"/>
              <a:pathLst>
                <a:path w="634195" h="174165">
                  <a:moveTo>
                    <a:pt x="87083" y="0"/>
                  </a:moveTo>
                  <a:lnTo>
                    <a:pt x="547112" y="0"/>
                  </a:lnTo>
                  <a:cubicBezTo>
                    <a:pt x="570208" y="0"/>
                    <a:pt x="592358" y="9175"/>
                    <a:pt x="608689" y="25506"/>
                  </a:cubicBezTo>
                  <a:cubicBezTo>
                    <a:pt x="625020" y="41837"/>
                    <a:pt x="634195" y="63987"/>
                    <a:pt x="634195" y="87083"/>
                  </a:cubicBezTo>
                  <a:lnTo>
                    <a:pt x="634195" y="87083"/>
                  </a:lnTo>
                  <a:cubicBezTo>
                    <a:pt x="634195" y="110178"/>
                    <a:pt x="625020" y="132328"/>
                    <a:pt x="608689" y="148659"/>
                  </a:cubicBezTo>
                  <a:cubicBezTo>
                    <a:pt x="592358" y="164990"/>
                    <a:pt x="570208" y="174165"/>
                    <a:pt x="547112" y="174165"/>
                  </a:cubicBezTo>
                  <a:lnTo>
                    <a:pt x="87083" y="174165"/>
                  </a:lnTo>
                  <a:cubicBezTo>
                    <a:pt x="63987" y="174165"/>
                    <a:pt x="41837" y="164990"/>
                    <a:pt x="25506" y="148659"/>
                  </a:cubicBezTo>
                  <a:cubicBezTo>
                    <a:pt x="9175" y="132328"/>
                    <a:pt x="0" y="110178"/>
                    <a:pt x="0" y="87083"/>
                  </a:cubicBezTo>
                  <a:lnTo>
                    <a:pt x="0" y="87083"/>
                  </a:lnTo>
                  <a:cubicBezTo>
                    <a:pt x="0" y="63987"/>
                    <a:pt x="9175" y="41837"/>
                    <a:pt x="25506" y="25506"/>
                  </a:cubicBezTo>
                  <a:cubicBezTo>
                    <a:pt x="41837" y="9175"/>
                    <a:pt x="63987" y="0"/>
                    <a:pt x="87083" y="0"/>
                  </a:cubicBezTo>
                  <a:close/>
                </a:path>
              </a:pathLst>
            </a:custGeom>
            <a:solidFill>
              <a:srgbClr val="98C4EC"/>
            </a:solidFill>
          </p:spPr>
        </p:sp>
        <p:sp>
          <p:nvSpPr>
            <p:cNvPr id="5" name="TextBox 5"/>
            <p:cNvSpPr txBox="1"/>
            <p:nvPr/>
          </p:nvSpPr>
          <p:spPr>
            <a:xfrm>
              <a:off x="0" y="-57150"/>
              <a:ext cx="634195" cy="231315"/>
            </a:xfrm>
            <a:prstGeom prst="rect">
              <a:avLst/>
            </a:prstGeom>
          </p:spPr>
          <p:txBody>
            <a:bodyPr lIns="50800" tIns="50800" rIns="50800" bIns="50800" rtlCol="0" anchor="ctr"/>
            <a:lstStyle/>
            <a:p>
              <a:pPr algn="ctr">
                <a:lnSpc>
                  <a:spcPts val="3919"/>
                </a:lnSpc>
              </a:pPr>
              <a:r>
                <a:rPr lang="en-US" sz="2799" b="1" dirty="0">
                  <a:solidFill>
                    <a:srgbClr val="FFFFFF"/>
                  </a:solidFill>
                  <a:latin typeface="Times New Roman" panose="02020603050405020304" pitchFamily="18" charset="0"/>
                  <a:ea typeface="Neue Montreal Bold"/>
                  <a:cs typeface="Times New Roman" panose="02020603050405020304" pitchFamily="18" charset="0"/>
                  <a:sym typeface="Neue Montreal Bold"/>
                </a:rPr>
                <a:t>GROUP-13</a:t>
              </a:r>
            </a:p>
          </p:txBody>
        </p:sp>
      </p:grpSp>
      <p:sp>
        <p:nvSpPr>
          <p:cNvPr id="8" name="Freeform 8"/>
          <p:cNvSpPr/>
          <p:nvPr/>
        </p:nvSpPr>
        <p:spPr>
          <a:xfrm>
            <a:off x="131324" y="9358753"/>
            <a:ext cx="2275834" cy="772925"/>
          </a:xfrm>
          <a:custGeom>
            <a:avLst/>
            <a:gdLst/>
            <a:ahLst/>
            <a:cxnLst/>
            <a:rect l="l" t="t" r="r" b="b"/>
            <a:pathLst>
              <a:path w="2275834" h="772925">
                <a:moveTo>
                  <a:pt x="0" y="0"/>
                </a:moveTo>
                <a:lnTo>
                  <a:pt x="2275834" y="0"/>
                </a:lnTo>
                <a:lnTo>
                  <a:pt x="2275834" y="772925"/>
                </a:lnTo>
                <a:lnTo>
                  <a:pt x="0" y="772925"/>
                </a:lnTo>
                <a:lnTo>
                  <a:pt x="0" y="0"/>
                </a:lnTo>
                <a:close/>
              </a:path>
            </a:pathLst>
          </a:custGeom>
          <a:blipFill>
            <a:blip r:embed="rId2"/>
            <a:stretch>
              <a:fillRect/>
            </a:stretch>
          </a:blipFill>
        </p:spPr>
      </p:sp>
      <p:sp>
        <p:nvSpPr>
          <p:cNvPr id="9" name="AutoShape 9"/>
          <p:cNvSpPr/>
          <p:nvPr/>
        </p:nvSpPr>
        <p:spPr>
          <a:xfrm>
            <a:off x="2930000" y="9696477"/>
            <a:ext cx="12198330" cy="0"/>
          </a:xfrm>
          <a:prstGeom prst="line">
            <a:avLst/>
          </a:prstGeom>
          <a:ln w="28575" cap="flat">
            <a:solidFill>
              <a:srgbClr val="AA1313"/>
            </a:solidFill>
            <a:prstDash val="solid"/>
            <a:headEnd type="none" w="sm" len="sm"/>
            <a:tailEnd type="none" w="sm" len="sm"/>
          </a:ln>
        </p:spPr>
      </p:sp>
      <p:sp>
        <p:nvSpPr>
          <p:cNvPr id="10" name="TextBox 10"/>
          <p:cNvSpPr txBox="1"/>
          <p:nvPr/>
        </p:nvSpPr>
        <p:spPr>
          <a:xfrm>
            <a:off x="1843642" y="9697590"/>
            <a:ext cx="9399570" cy="329386"/>
          </a:xfrm>
          <a:prstGeom prst="rect">
            <a:avLst/>
          </a:prstGeom>
        </p:spPr>
        <p:txBody>
          <a:bodyPr lIns="0" tIns="0" rIns="0" bIns="0" rtlCol="0" anchor="t">
            <a:spAutoFit/>
          </a:bodyPr>
          <a:lstStyle/>
          <a:p>
            <a:pPr algn="ctr">
              <a:lnSpc>
                <a:spcPts val="2800"/>
              </a:lnSpc>
            </a:pPr>
            <a:r>
              <a:rPr lang="en-US" sz="2000" b="1">
                <a:solidFill>
                  <a:srgbClr val="5C2D88"/>
                </a:solidFill>
                <a:latin typeface="Times New Roman" panose="02020603050405020304" pitchFamily="18" charset="0"/>
                <a:ea typeface="Canva Sans Bold"/>
                <a:cs typeface="Times New Roman" panose="02020603050405020304" pitchFamily="18" charset="0"/>
                <a:sym typeface="Canva Sans Bold"/>
              </a:rPr>
              <a:t>Nagpur | Pune | Jalgaon | Amravati | Pandhura | Bhandara</a:t>
            </a:r>
          </a:p>
        </p:txBody>
      </p:sp>
      <p:sp>
        <p:nvSpPr>
          <p:cNvPr id="11" name="TextBox 11"/>
          <p:cNvSpPr txBox="1"/>
          <p:nvPr/>
        </p:nvSpPr>
        <p:spPr>
          <a:xfrm>
            <a:off x="990600" y="2068614"/>
            <a:ext cx="17036087" cy="7113486"/>
          </a:xfrm>
          <a:prstGeom prst="rect">
            <a:avLst/>
          </a:prstGeom>
        </p:spPr>
        <p:txBody>
          <a:bodyPr wrap="square" lIns="0" tIns="0" rIns="0" bIns="0" rtlCol="0" anchor="t">
            <a:spAutoFit/>
          </a:bodyPr>
          <a:lstStyle/>
          <a:p>
            <a:r>
              <a:rPr lang="en-US" sz="3200" b="1" dirty="0">
                <a:latin typeface="Times New Roman" panose="02020603050405020304" pitchFamily="18" charset="0"/>
                <a:cs typeface="Times New Roman" panose="02020603050405020304" pitchFamily="18" charset="0"/>
              </a:rPr>
              <a:t>1. Anticipated Benefits and Improvements</a:t>
            </a:r>
            <a:br>
              <a:rPr lang="en-US" sz="3200"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The proposed </a:t>
            </a:r>
            <a:r>
              <a:rPr lang="en-US" sz="3200" b="1" dirty="0">
                <a:latin typeface="Times New Roman" panose="02020603050405020304" pitchFamily="18" charset="0"/>
                <a:cs typeface="Times New Roman" panose="02020603050405020304" pitchFamily="18" charset="0"/>
              </a:rPr>
              <a:t>AI-based Code Review System using </a:t>
            </a:r>
            <a:r>
              <a:rPr lang="en-US" sz="3200" b="1" dirty="0" err="1">
                <a:latin typeface="Times New Roman" panose="02020603050405020304" pitchFamily="18" charset="0"/>
                <a:cs typeface="Times New Roman" panose="02020603050405020304" pitchFamily="18" charset="0"/>
              </a:rPr>
              <a:t>CodeBERT</a:t>
            </a:r>
            <a:r>
              <a:rPr lang="en-US" sz="3200" dirty="0">
                <a:latin typeface="Times New Roman" panose="02020603050405020304" pitchFamily="18" charset="0"/>
                <a:cs typeface="Times New Roman" panose="02020603050405020304" pitchFamily="18" charset="0"/>
              </a:rPr>
              <a:t> is expected to significantly improve the software development process. The system will help developers quickly detect syntax and logical errors in their code and receive suggestions for improvement. This will reduce the time spent on debugging and manual code review. The tool will also help beginners understand coding mistakes and improve their programming skills. Overall, the system aims to enhance </a:t>
            </a:r>
            <a:r>
              <a:rPr lang="en-US" sz="3200" b="1" dirty="0">
                <a:latin typeface="Times New Roman" panose="02020603050405020304" pitchFamily="18" charset="0"/>
                <a:cs typeface="Times New Roman" panose="02020603050405020304" pitchFamily="18" charset="0"/>
              </a:rPr>
              <a:t>code quality, development efficiency, and learning support for programmers</a:t>
            </a:r>
            <a:r>
              <a:rPr lang="en-US" sz="3200" dirty="0">
                <a:latin typeface="Times New Roman" panose="02020603050405020304" pitchFamily="18" charset="0"/>
                <a:cs typeface="Times New Roman" panose="02020603050405020304" pitchFamily="18" charset="0"/>
              </a:rPr>
              <a:t>.</a:t>
            </a:r>
          </a:p>
          <a:p>
            <a:r>
              <a:rPr lang="en-US" sz="3200" b="1" dirty="0">
                <a:latin typeface="Times New Roman" panose="02020603050405020304" pitchFamily="18" charset="0"/>
                <a:cs typeface="Times New Roman" panose="02020603050405020304" pitchFamily="18" charset="0"/>
              </a:rPr>
              <a:t>2. Potential Impact on the Target Audience or Industry</a:t>
            </a:r>
            <a:br>
              <a:rPr lang="en-US" sz="3200"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The system can benefit </a:t>
            </a:r>
            <a:r>
              <a:rPr lang="en-US" sz="3200" b="1" dirty="0">
                <a:latin typeface="Times New Roman" panose="02020603050405020304" pitchFamily="18" charset="0"/>
                <a:cs typeface="Times New Roman" panose="02020603050405020304" pitchFamily="18" charset="0"/>
              </a:rPr>
              <a:t>software developers, students, and development teams</a:t>
            </a:r>
            <a:r>
              <a:rPr lang="en-US" sz="3200" dirty="0">
                <a:latin typeface="Times New Roman" panose="02020603050405020304" pitchFamily="18" charset="0"/>
                <a:cs typeface="Times New Roman" panose="02020603050405020304" pitchFamily="18" charset="0"/>
              </a:rPr>
              <a:t> by providing an intelligent assistant for code analysis. It can be used in educational environments to help students learn coding more effectively and in the software industry to support faster development and better code quality. By automating the code review process, the solution can contribute to </a:t>
            </a:r>
            <a:r>
              <a:rPr lang="en-US" sz="3200" b="1" dirty="0">
                <a:latin typeface="Times New Roman" panose="02020603050405020304" pitchFamily="18" charset="0"/>
                <a:cs typeface="Times New Roman" panose="02020603050405020304" pitchFamily="18" charset="0"/>
              </a:rPr>
              <a:t>more efficient software development practices and improved productivity in the tech industry</a:t>
            </a:r>
            <a:r>
              <a:rPr lang="en-US" sz="3200" dirty="0">
                <a:latin typeface="Times New Roman" panose="02020603050405020304" pitchFamily="18" charset="0"/>
                <a:cs typeface="Times New Roman" panose="02020603050405020304" pitchFamily="18" charset="0"/>
              </a:rPr>
              <a:t>. </a:t>
            </a:r>
          </a:p>
          <a:p>
            <a:pPr>
              <a:lnSpc>
                <a:spcPts val="6440"/>
              </a:lnSpc>
            </a:pPr>
            <a:endParaRPr lang="en-US" sz="3200" dirty="0">
              <a:solidFill>
                <a:srgbClr val="000000"/>
              </a:solidFill>
              <a:latin typeface="Times New Roman" panose="02020603050405020304" pitchFamily="18" charset="0"/>
              <a:ea typeface="DM Sans"/>
              <a:cs typeface="Times New Roman" panose="02020603050405020304" pitchFamily="18" charset="0"/>
              <a:sym typeface="DM Sans"/>
            </a:endParaRPr>
          </a:p>
        </p:txBody>
      </p:sp>
      <p:sp>
        <p:nvSpPr>
          <p:cNvPr id="12" name="Freeform 12"/>
          <p:cNvSpPr/>
          <p:nvPr/>
        </p:nvSpPr>
        <p:spPr>
          <a:xfrm>
            <a:off x="4288580" y="2071461"/>
            <a:ext cx="9228841" cy="6523595"/>
          </a:xfrm>
          <a:custGeom>
            <a:avLst/>
            <a:gdLst/>
            <a:ahLst/>
            <a:cxnLst/>
            <a:rect l="l" t="t" r="r" b="b"/>
            <a:pathLst>
              <a:path w="9228841" h="6523595">
                <a:moveTo>
                  <a:pt x="0" y="0"/>
                </a:moveTo>
                <a:lnTo>
                  <a:pt x="9228841" y="0"/>
                </a:lnTo>
                <a:lnTo>
                  <a:pt x="9228841" y="6523596"/>
                </a:lnTo>
                <a:lnTo>
                  <a:pt x="0" y="6523596"/>
                </a:lnTo>
                <a:lnTo>
                  <a:pt x="0" y="0"/>
                </a:lnTo>
                <a:close/>
              </a:path>
            </a:pathLst>
          </a:custGeom>
          <a:blipFill>
            <a:blip r:embed="rId3">
              <a:alphaModFix amt="9999"/>
            </a:blip>
            <a:stretch>
              <a:fillRect l="-3515" t="-23221" b="-23221"/>
            </a:stretch>
          </a:blipFill>
        </p:spPr>
      </p:sp>
      <p:sp>
        <p:nvSpPr>
          <p:cNvPr id="13" name="Freeform 6">
            <a:extLst>
              <a:ext uri="{FF2B5EF4-FFF2-40B4-BE49-F238E27FC236}">
                <a16:creationId xmlns:a16="http://schemas.microsoft.com/office/drawing/2014/main" id="{433FD921-87B2-8B9A-9993-4F40C68F3D26}"/>
              </a:ext>
            </a:extLst>
          </p:cNvPr>
          <p:cNvSpPr/>
          <p:nvPr/>
        </p:nvSpPr>
        <p:spPr>
          <a:xfrm>
            <a:off x="15590432" y="-594680"/>
            <a:ext cx="2603115" cy="2603115"/>
          </a:xfrm>
          <a:custGeom>
            <a:avLst/>
            <a:gdLst/>
            <a:ahLst/>
            <a:cxnLst/>
            <a:rect l="l" t="t" r="r" b="b"/>
            <a:pathLst>
              <a:path w="2603115" h="2603115">
                <a:moveTo>
                  <a:pt x="0" y="0"/>
                </a:moveTo>
                <a:lnTo>
                  <a:pt x="2603114" y="0"/>
                </a:lnTo>
                <a:lnTo>
                  <a:pt x="2603114" y="2603115"/>
                </a:lnTo>
                <a:lnTo>
                  <a:pt x="0" y="2603115"/>
                </a:lnTo>
                <a:lnTo>
                  <a:pt x="0" y="0"/>
                </a:lnTo>
                <a:close/>
              </a:path>
            </a:pathLst>
          </a:custGeom>
          <a:blipFill>
            <a:blip r:embed="rId3"/>
            <a:stretch>
              <a:fillRect/>
            </a:stretch>
          </a:blipFill>
        </p:spPr>
        <p:txBody>
          <a:bodyPr/>
          <a:lstStyle/>
          <a:p>
            <a:endParaRPr lang="en-US" dirty="0">
              <a:latin typeface="Times New Roman" panose="02020603050405020304" pitchFamily="18" charset="0"/>
              <a:cs typeface="Times New Roman" panose="02020603050405020304" pitchFamily="18" charset="0"/>
            </a:endParaRPr>
          </a:p>
        </p:txBody>
      </p:sp>
      <p:sp>
        <p:nvSpPr>
          <p:cNvPr id="14" name="Freeform 7">
            <a:extLst>
              <a:ext uri="{FF2B5EF4-FFF2-40B4-BE49-F238E27FC236}">
                <a16:creationId xmlns:a16="http://schemas.microsoft.com/office/drawing/2014/main" id="{46B4FF7E-B2C8-E73A-5451-5F1E2F833FD6}"/>
              </a:ext>
            </a:extLst>
          </p:cNvPr>
          <p:cNvSpPr/>
          <p:nvPr/>
        </p:nvSpPr>
        <p:spPr>
          <a:xfrm>
            <a:off x="131324" y="297058"/>
            <a:ext cx="3094349" cy="1450639"/>
          </a:xfrm>
          <a:custGeom>
            <a:avLst/>
            <a:gdLst/>
            <a:ahLst/>
            <a:cxnLst/>
            <a:rect l="l" t="t" r="r" b="b"/>
            <a:pathLst>
              <a:path w="3094349" h="1450639">
                <a:moveTo>
                  <a:pt x="0" y="0"/>
                </a:moveTo>
                <a:lnTo>
                  <a:pt x="3094349" y="0"/>
                </a:lnTo>
                <a:lnTo>
                  <a:pt x="3094349" y="1450639"/>
                </a:lnTo>
                <a:lnTo>
                  <a:pt x="0" y="1450639"/>
                </a:lnTo>
                <a:lnTo>
                  <a:pt x="0" y="0"/>
                </a:lnTo>
                <a:close/>
              </a:path>
            </a:pathLst>
          </a:custGeom>
          <a:blipFill>
            <a:blip r:embed="rId4"/>
            <a:stretch>
              <a:fillRect/>
            </a:stretch>
          </a:blipFill>
        </p:spPr>
        <p:txBody>
          <a:bodyPr/>
          <a:lstStyle/>
          <a:p>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3505200" y="423943"/>
            <a:ext cx="12444184" cy="1095375"/>
          </a:xfrm>
          <a:prstGeom prst="rect">
            <a:avLst/>
          </a:prstGeom>
        </p:spPr>
        <p:txBody>
          <a:bodyPr lIns="0" tIns="0" rIns="0" bIns="0" rtlCol="0" anchor="t">
            <a:spAutoFit/>
          </a:bodyPr>
          <a:lstStyle/>
          <a:p>
            <a:pPr algn="ctr">
              <a:lnSpc>
                <a:spcPts val="7681"/>
              </a:lnSpc>
            </a:pPr>
            <a:r>
              <a:rPr lang="en-US" sz="6400" b="1" spc="-384" dirty="0">
                <a:solidFill>
                  <a:srgbClr val="020202"/>
                </a:solidFill>
                <a:latin typeface="Goudy Bold"/>
                <a:ea typeface="Goudy Bold"/>
                <a:cs typeface="Goudy Bold"/>
                <a:sym typeface="Goudy Bold"/>
              </a:rPr>
              <a:t>RESEARCH AND REFERENCES</a:t>
            </a:r>
          </a:p>
        </p:txBody>
      </p:sp>
      <p:grpSp>
        <p:nvGrpSpPr>
          <p:cNvPr id="3" name="Group 3"/>
          <p:cNvGrpSpPr/>
          <p:nvPr/>
        </p:nvGrpSpPr>
        <p:grpSpPr>
          <a:xfrm>
            <a:off x="15652205" y="9565386"/>
            <a:ext cx="2407958" cy="661283"/>
            <a:chOff x="0" y="0"/>
            <a:chExt cx="634195" cy="174165"/>
          </a:xfrm>
        </p:grpSpPr>
        <p:sp>
          <p:nvSpPr>
            <p:cNvPr id="4" name="Freeform 4"/>
            <p:cNvSpPr/>
            <p:nvPr/>
          </p:nvSpPr>
          <p:spPr>
            <a:xfrm>
              <a:off x="0" y="0"/>
              <a:ext cx="634195" cy="174165"/>
            </a:xfrm>
            <a:custGeom>
              <a:avLst/>
              <a:gdLst/>
              <a:ahLst/>
              <a:cxnLst/>
              <a:rect l="l" t="t" r="r" b="b"/>
              <a:pathLst>
                <a:path w="634195" h="174165">
                  <a:moveTo>
                    <a:pt x="87083" y="0"/>
                  </a:moveTo>
                  <a:lnTo>
                    <a:pt x="547112" y="0"/>
                  </a:lnTo>
                  <a:cubicBezTo>
                    <a:pt x="570208" y="0"/>
                    <a:pt x="592358" y="9175"/>
                    <a:pt x="608689" y="25506"/>
                  </a:cubicBezTo>
                  <a:cubicBezTo>
                    <a:pt x="625020" y="41837"/>
                    <a:pt x="634195" y="63987"/>
                    <a:pt x="634195" y="87083"/>
                  </a:cubicBezTo>
                  <a:lnTo>
                    <a:pt x="634195" y="87083"/>
                  </a:lnTo>
                  <a:cubicBezTo>
                    <a:pt x="634195" y="110178"/>
                    <a:pt x="625020" y="132328"/>
                    <a:pt x="608689" y="148659"/>
                  </a:cubicBezTo>
                  <a:cubicBezTo>
                    <a:pt x="592358" y="164990"/>
                    <a:pt x="570208" y="174165"/>
                    <a:pt x="547112" y="174165"/>
                  </a:cubicBezTo>
                  <a:lnTo>
                    <a:pt x="87083" y="174165"/>
                  </a:lnTo>
                  <a:cubicBezTo>
                    <a:pt x="63987" y="174165"/>
                    <a:pt x="41837" y="164990"/>
                    <a:pt x="25506" y="148659"/>
                  </a:cubicBezTo>
                  <a:cubicBezTo>
                    <a:pt x="9175" y="132328"/>
                    <a:pt x="0" y="110178"/>
                    <a:pt x="0" y="87083"/>
                  </a:cubicBezTo>
                  <a:lnTo>
                    <a:pt x="0" y="87083"/>
                  </a:lnTo>
                  <a:cubicBezTo>
                    <a:pt x="0" y="63987"/>
                    <a:pt x="9175" y="41837"/>
                    <a:pt x="25506" y="25506"/>
                  </a:cubicBezTo>
                  <a:cubicBezTo>
                    <a:pt x="41837" y="9175"/>
                    <a:pt x="63987" y="0"/>
                    <a:pt x="87083" y="0"/>
                  </a:cubicBezTo>
                  <a:close/>
                </a:path>
              </a:pathLst>
            </a:custGeom>
            <a:solidFill>
              <a:srgbClr val="98C4EC"/>
            </a:solidFill>
          </p:spPr>
        </p:sp>
        <p:sp>
          <p:nvSpPr>
            <p:cNvPr id="5" name="TextBox 5"/>
            <p:cNvSpPr txBox="1"/>
            <p:nvPr/>
          </p:nvSpPr>
          <p:spPr>
            <a:xfrm>
              <a:off x="0" y="-57150"/>
              <a:ext cx="634195" cy="231315"/>
            </a:xfrm>
            <a:prstGeom prst="rect">
              <a:avLst/>
            </a:prstGeom>
          </p:spPr>
          <p:txBody>
            <a:bodyPr lIns="50800" tIns="50800" rIns="50800" bIns="50800" rtlCol="0" anchor="ctr"/>
            <a:lstStyle/>
            <a:p>
              <a:pPr algn="ctr">
                <a:lnSpc>
                  <a:spcPts val="3919"/>
                </a:lnSpc>
              </a:pPr>
              <a:r>
                <a:rPr lang="en-US" sz="2799" b="1">
                  <a:solidFill>
                    <a:srgbClr val="FFFFFF"/>
                  </a:solidFill>
                  <a:latin typeface="Neue Montreal Bold"/>
                  <a:ea typeface="Neue Montreal Bold"/>
                  <a:cs typeface="Neue Montreal Bold"/>
                  <a:sym typeface="Neue Montreal Bold"/>
                </a:rPr>
                <a:t>GROUP-13</a:t>
              </a:r>
              <a:endParaRPr lang="en-US" sz="2799" b="1" dirty="0">
                <a:solidFill>
                  <a:srgbClr val="FFFFFF"/>
                </a:solidFill>
                <a:latin typeface="Neue Montreal Bold"/>
                <a:ea typeface="Neue Montreal Bold"/>
                <a:cs typeface="Neue Montreal Bold"/>
                <a:sym typeface="Neue Montreal Bold"/>
              </a:endParaRPr>
            </a:p>
          </p:txBody>
        </p:sp>
      </p:grpSp>
      <p:sp>
        <p:nvSpPr>
          <p:cNvPr id="8" name="Freeform 8"/>
          <p:cNvSpPr/>
          <p:nvPr/>
        </p:nvSpPr>
        <p:spPr>
          <a:xfrm>
            <a:off x="131324" y="9358753"/>
            <a:ext cx="2275834" cy="772925"/>
          </a:xfrm>
          <a:custGeom>
            <a:avLst/>
            <a:gdLst/>
            <a:ahLst/>
            <a:cxnLst/>
            <a:rect l="l" t="t" r="r" b="b"/>
            <a:pathLst>
              <a:path w="2275834" h="772925">
                <a:moveTo>
                  <a:pt x="0" y="0"/>
                </a:moveTo>
                <a:lnTo>
                  <a:pt x="2275834" y="0"/>
                </a:lnTo>
                <a:lnTo>
                  <a:pt x="2275834" y="772925"/>
                </a:lnTo>
                <a:lnTo>
                  <a:pt x="0" y="772925"/>
                </a:lnTo>
                <a:lnTo>
                  <a:pt x="0" y="0"/>
                </a:lnTo>
                <a:close/>
              </a:path>
            </a:pathLst>
          </a:custGeom>
          <a:blipFill>
            <a:blip r:embed="rId2"/>
            <a:stretch>
              <a:fillRect/>
            </a:stretch>
          </a:blipFill>
        </p:spPr>
      </p:sp>
      <p:sp>
        <p:nvSpPr>
          <p:cNvPr id="9" name="AutoShape 9"/>
          <p:cNvSpPr/>
          <p:nvPr/>
        </p:nvSpPr>
        <p:spPr>
          <a:xfrm>
            <a:off x="2930000" y="9696477"/>
            <a:ext cx="12198330" cy="0"/>
          </a:xfrm>
          <a:prstGeom prst="line">
            <a:avLst/>
          </a:prstGeom>
          <a:ln w="28575" cap="flat">
            <a:solidFill>
              <a:srgbClr val="AA1313"/>
            </a:solidFill>
            <a:prstDash val="solid"/>
            <a:headEnd type="none" w="sm" len="sm"/>
            <a:tailEnd type="none" w="sm" len="sm"/>
          </a:ln>
        </p:spPr>
      </p:sp>
      <p:sp>
        <p:nvSpPr>
          <p:cNvPr id="10" name="TextBox 10"/>
          <p:cNvSpPr txBox="1"/>
          <p:nvPr/>
        </p:nvSpPr>
        <p:spPr>
          <a:xfrm>
            <a:off x="1843642" y="9697590"/>
            <a:ext cx="9399570" cy="349250"/>
          </a:xfrm>
          <a:prstGeom prst="rect">
            <a:avLst/>
          </a:prstGeom>
        </p:spPr>
        <p:txBody>
          <a:bodyPr lIns="0" tIns="0" rIns="0" bIns="0" rtlCol="0" anchor="t">
            <a:spAutoFit/>
          </a:bodyPr>
          <a:lstStyle/>
          <a:p>
            <a:pPr algn="ctr">
              <a:lnSpc>
                <a:spcPts val="2800"/>
              </a:lnSpc>
            </a:pPr>
            <a:r>
              <a:rPr lang="en-US" sz="2000" b="1">
                <a:solidFill>
                  <a:srgbClr val="5C2D88"/>
                </a:solidFill>
                <a:latin typeface="Canva Sans Bold"/>
                <a:ea typeface="Canva Sans Bold"/>
                <a:cs typeface="Canva Sans Bold"/>
                <a:sym typeface="Canva Sans Bold"/>
              </a:rPr>
              <a:t>Nagpur | Pune | Jalgaon | Amravati | Pandhura | Bhandara</a:t>
            </a:r>
          </a:p>
        </p:txBody>
      </p:sp>
      <p:sp>
        <p:nvSpPr>
          <p:cNvPr id="11" name="TextBox 11"/>
          <p:cNvSpPr txBox="1"/>
          <p:nvPr/>
        </p:nvSpPr>
        <p:spPr>
          <a:xfrm>
            <a:off x="1843641" y="2205237"/>
            <a:ext cx="14297145" cy="6463308"/>
          </a:xfrm>
          <a:prstGeom prst="rect">
            <a:avLst/>
          </a:prstGeom>
        </p:spPr>
        <p:txBody>
          <a:bodyPr lIns="0" tIns="0" rIns="0" bIns="0" rtlCol="0" anchor="t">
            <a:spAutoFit/>
          </a:bodyPr>
          <a:lstStyle/>
          <a:p>
            <a:r>
              <a:rPr lang="en-IN" sz="2800" dirty="0">
                <a:latin typeface="Times New Roman" panose="02020603050405020304" pitchFamily="18" charset="0"/>
                <a:cs typeface="Times New Roman" panose="02020603050405020304" pitchFamily="18" charset="0"/>
              </a:rPr>
              <a:t>[1] F. Feng, D. Guo, D. Tang, N. Duan, X. Feng, M. Gong, L. Shou, B. Qin, T. Liu, D. Jiang, and M. Zhou, </a:t>
            </a:r>
            <a:r>
              <a:rPr lang="en-IN" sz="2800" b="1" dirty="0">
                <a:latin typeface="Times New Roman" panose="02020603050405020304" pitchFamily="18" charset="0"/>
                <a:cs typeface="Times New Roman" panose="02020603050405020304" pitchFamily="18" charset="0"/>
              </a:rPr>
              <a:t>“</a:t>
            </a:r>
            <a:r>
              <a:rPr lang="en-IN" sz="2800" b="1" dirty="0" err="1">
                <a:latin typeface="Times New Roman" panose="02020603050405020304" pitchFamily="18" charset="0"/>
                <a:cs typeface="Times New Roman" panose="02020603050405020304" pitchFamily="18" charset="0"/>
              </a:rPr>
              <a:t>CodeBERT</a:t>
            </a:r>
            <a:r>
              <a:rPr lang="en-IN" sz="2800" b="1" dirty="0">
                <a:latin typeface="Times New Roman" panose="02020603050405020304" pitchFamily="18" charset="0"/>
                <a:cs typeface="Times New Roman" panose="02020603050405020304" pitchFamily="18" charset="0"/>
              </a:rPr>
              <a:t>: A Pre-Trained Model for Programming and Natural Languages,”</a:t>
            </a:r>
            <a:r>
              <a:rPr lang="en-IN" sz="2800" dirty="0">
                <a:latin typeface="Times New Roman" panose="02020603050405020304" pitchFamily="18" charset="0"/>
                <a:cs typeface="Times New Roman" panose="02020603050405020304" pitchFamily="18" charset="0"/>
              </a:rPr>
              <a:t> in </a:t>
            </a:r>
            <a:r>
              <a:rPr lang="en-IN" sz="2800" i="1" dirty="0">
                <a:latin typeface="Times New Roman" panose="02020603050405020304" pitchFamily="18" charset="0"/>
                <a:cs typeface="Times New Roman" panose="02020603050405020304" pitchFamily="18" charset="0"/>
              </a:rPr>
              <a:t>Proceedings of the 2020 Conference on Empirical Methods in Natural Language Processing (EMNLP)</a:t>
            </a:r>
            <a:r>
              <a:rPr lang="en-IN" sz="2800" dirty="0">
                <a:latin typeface="Times New Roman" panose="02020603050405020304" pitchFamily="18" charset="0"/>
                <a:cs typeface="Times New Roman" panose="02020603050405020304" pitchFamily="18" charset="0"/>
              </a:rPr>
              <a:t>, 2020.</a:t>
            </a:r>
            <a:br>
              <a:rPr lang="en-IN" sz="2800" dirty="0">
                <a:latin typeface="Times New Roman" panose="02020603050405020304" pitchFamily="18" charset="0"/>
                <a:cs typeface="Times New Roman" panose="02020603050405020304" pitchFamily="18" charset="0"/>
              </a:rPr>
            </a:br>
            <a:r>
              <a:rPr lang="en-IN" sz="2800" dirty="0">
                <a:latin typeface="Times New Roman" panose="02020603050405020304" pitchFamily="18" charset="0"/>
                <a:cs typeface="Times New Roman" panose="02020603050405020304" pitchFamily="18" charset="0"/>
              </a:rPr>
              <a:t>Available: </a:t>
            </a:r>
            <a:r>
              <a:rPr lang="en-IN" sz="2800" dirty="0">
                <a:latin typeface="Times New Roman" panose="02020603050405020304" pitchFamily="18" charset="0"/>
                <a:cs typeface="Times New Roman" panose="02020603050405020304" pitchFamily="18" charset="0"/>
                <a:hlinkClick r:id="rId3"/>
              </a:rPr>
              <a:t>https://arxiv.org/abs/2002.08155</a:t>
            </a:r>
            <a:endParaRPr lang="en-IN" sz="2800" dirty="0">
              <a:latin typeface="Times New Roman" panose="02020603050405020304" pitchFamily="18" charset="0"/>
              <a:cs typeface="Times New Roman" panose="02020603050405020304" pitchFamily="18" charset="0"/>
            </a:endParaRPr>
          </a:p>
          <a:p>
            <a:r>
              <a:rPr lang="en-IN" sz="2800" dirty="0">
                <a:latin typeface="Times New Roman" panose="02020603050405020304" pitchFamily="18" charset="0"/>
                <a:cs typeface="Times New Roman" panose="02020603050405020304" pitchFamily="18" charset="0"/>
              </a:rPr>
              <a:t>[2] D. Guo, S. Ren, S. Lu, Z. Feng, C. Tang, S. Liu, L. Zhou, and N. Duan, </a:t>
            </a:r>
            <a:r>
              <a:rPr lang="en-IN" sz="2800" b="1" dirty="0">
                <a:latin typeface="Times New Roman" panose="02020603050405020304" pitchFamily="18" charset="0"/>
                <a:cs typeface="Times New Roman" panose="02020603050405020304" pitchFamily="18" charset="0"/>
              </a:rPr>
              <a:t>“</a:t>
            </a:r>
            <a:r>
              <a:rPr lang="en-IN" sz="2800" b="1" dirty="0" err="1">
                <a:latin typeface="Times New Roman" panose="02020603050405020304" pitchFamily="18" charset="0"/>
                <a:cs typeface="Times New Roman" panose="02020603050405020304" pitchFamily="18" charset="0"/>
              </a:rPr>
              <a:t>GraphCodeBERT</a:t>
            </a:r>
            <a:r>
              <a:rPr lang="en-IN" sz="2800" b="1" dirty="0">
                <a:latin typeface="Times New Roman" panose="02020603050405020304" pitchFamily="18" charset="0"/>
                <a:cs typeface="Times New Roman" panose="02020603050405020304" pitchFamily="18" charset="0"/>
              </a:rPr>
              <a:t>: Pre-training Code Representations with Data Flow,”</a:t>
            </a:r>
            <a:r>
              <a:rPr lang="en-IN" sz="2800" dirty="0">
                <a:latin typeface="Times New Roman" panose="02020603050405020304" pitchFamily="18" charset="0"/>
                <a:cs typeface="Times New Roman" panose="02020603050405020304" pitchFamily="18" charset="0"/>
              </a:rPr>
              <a:t> in </a:t>
            </a:r>
            <a:r>
              <a:rPr lang="en-IN" sz="2800" i="1" dirty="0">
                <a:latin typeface="Times New Roman" panose="02020603050405020304" pitchFamily="18" charset="0"/>
                <a:cs typeface="Times New Roman" panose="02020603050405020304" pitchFamily="18" charset="0"/>
              </a:rPr>
              <a:t>International Conference on Learning Representations (ICLR)</a:t>
            </a:r>
            <a:r>
              <a:rPr lang="en-IN" sz="2800" dirty="0">
                <a:latin typeface="Times New Roman" panose="02020603050405020304" pitchFamily="18" charset="0"/>
                <a:cs typeface="Times New Roman" panose="02020603050405020304" pitchFamily="18" charset="0"/>
              </a:rPr>
              <a:t>, 2021.</a:t>
            </a:r>
            <a:br>
              <a:rPr lang="en-IN" sz="2800" dirty="0">
                <a:latin typeface="Times New Roman" panose="02020603050405020304" pitchFamily="18" charset="0"/>
                <a:cs typeface="Times New Roman" panose="02020603050405020304" pitchFamily="18" charset="0"/>
              </a:rPr>
            </a:br>
            <a:r>
              <a:rPr lang="en-IN" sz="2800" dirty="0">
                <a:latin typeface="Times New Roman" panose="02020603050405020304" pitchFamily="18" charset="0"/>
                <a:cs typeface="Times New Roman" panose="02020603050405020304" pitchFamily="18" charset="0"/>
              </a:rPr>
              <a:t>Available: </a:t>
            </a:r>
            <a:r>
              <a:rPr lang="en-IN" sz="2800" dirty="0">
                <a:latin typeface="Times New Roman" panose="02020603050405020304" pitchFamily="18" charset="0"/>
                <a:cs typeface="Times New Roman" panose="02020603050405020304" pitchFamily="18" charset="0"/>
                <a:hlinkClick r:id="rId4"/>
              </a:rPr>
              <a:t>https://arxiv.org/abs/2009.08366</a:t>
            </a:r>
            <a:endParaRPr lang="en-IN" sz="2800" dirty="0">
              <a:latin typeface="Times New Roman" panose="02020603050405020304" pitchFamily="18" charset="0"/>
              <a:cs typeface="Times New Roman" panose="02020603050405020304" pitchFamily="18" charset="0"/>
            </a:endParaRPr>
          </a:p>
          <a:p>
            <a:r>
              <a:rPr lang="en-IN" sz="2800" dirty="0">
                <a:latin typeface="Times New Roman" panose="02020603050405020304" pitchFamily="18" charset="0"/>
                <a:cs typeface="Times New Roman" panose="02020603050405020304" pitchFamily="18" charset="0"/>
              </a:rPr>
              <a:t>[3] M. </a:t>
            </a:r>
            <a:r>
              <a:rPr lang="en-IN" sz="2800" dirty="0" err="1">
                <a:latin typeface="Times New Roman" panose="02020603050405020304" pitchFamily="18" charset="0"/>
                <a:cs typeface="Times New Roman" panose="02020603050405020304" pitchFamily="18" charset="0"/>
              </a:rPr>
              <a:t>Allamanis</a:t>
            </a:r>
            <a:r>
              <a:rPr lang="en-IN" sz="2800" dirty="0">
                <a:latin typeface="Times New Roman" panose="02020603050405020304" pitchFamily="18" charset="0"/>
                <a:cs typeface="Times New Roman" panose="02020603050405020304" pitchFamily="18" charset="0"/>
              </a:rPr>
              <a:t>, E. T. Barr, P. </a:t>
            </a:r>
            <a:r>
              <a:rPr lang="en-IN" sz="2800" dirty="0" err="1">
                <a:latin typeface="Times New Roman" panose="02020603050405020304" pitchFamily="18" charset="0"/>
                <a:cs typeface="Times New Roman" panose="02020603050405020304" pitchFamily="18" charset="0"/>
              </a:rPr>
              <a:t>Devanbu</a:t>
            </a:r>
            <a:r>
              <a:rPr lang="en-IN" sz="2800" dirty="0">
                <a:latin typeface="Times New Roman" panose="02020603050405020304" pitchFamily="18" charset="0"/>
                <a:cs typeface="Times New Roman" panose="02020603050405020304" pitchFamily="18" charset="0"/>
              </a:rPr>
              <a:t>, and C. Sutton, </a:t>
            </a:r>
            <a:r>
              <a:rPr lang="en-IN" sz="2800" b="1" dirty="0">
                <a:latin typeface="Times New Roman" panose="02020603050405020304" pitchFamily="18" charset="0"/>
                <a:cs typeface="Times New Roman" panose="02020603050405020304" pitchFamily="18" charset="0"/>
              </a:rPr>
              <a:t>“A Survey of Machine Learning for Big Code and Naturalness,”</a:t>
            </a:r>
            <a:r>
              <a:rPr lang="en-IN" sz="2800" dirty="0">
                <a:latin typeface="Times New Roman" panose="02020603050405020304" pitchFamily="18" charset="0"/>
                <a:cs typeface="Times New Roman" panose="02020603050405020304" pitchFamily="18" charset="0"/>
              </a:rPr>
              <a:t> </a:t>
            </a:r>
            <a:r>
              <a:rPr lang="en-IN" sz="2800" i="1" dirty="0">
                <a:latin typeface="Times New Roman" panose="02020603050405020304" pitchFamily="18" charset="0"/>
                <a:cs typeface="Times New Roman" panose="02020603050405020304" pitchFamily="18" charset="0"/>
              </a:rPr>
              <a:t>ACM Computing Surveys</a:t>
            </a:r>
            <a:r>
              <a:rPr lang="en-IN" sz="2800" dirty="0">
                <a:latin typeface="Times New Roman" panose="02020603050405020304" pitchFamily="18" charset="0"/>
                <a:cs typeface="Times New Roman" panose="02020603050405020304" pitchFamily="18" charset="0"/>
              </a:rPr>
              <a:t>, vol. 51, no. 4, pp. 1–37, 2018.</a:t>
            </a:r>
            <a:br>
              <a:rPr lang="en-IN" sz="2800" dirty="0">
                <a:latin typeface="Times New Roman" panose="02020603050405020304" pitchFamily="18" charset="0"/>
                <a:cs typeface="Times New Roman" panose="02020603050405020304" pitchFamily="18" charset="0"/>
              </a:rPr>
            </a:br>
            <a:r>
              <a:rPr lang="en-IN" sz="2800" dirty="0">
                <a:latin typeface="Times New Roman" panose="02020603050405020304" pitchFamily="18" charset="0"/>
                <a:cs typeface="Times New Roman" panose="02020603050405020304" pitchFamily="18" charset="0"/>
              </a:rPr>
              <a:t>Available: https://doi.org/10.1145/3212695</a:t>
            </a:r>
          </a:p>
          <a:p>
            <a:r>
              <a:rPr lang="en-IN" sz="2800" dirty="0">
                <a:latin typeface="Times New Roman" panose="02020603050405020304" pitchFamily="18" charset="0"/>
                <a:cs typeface="Times New Roman" panose="02020603050405020304" pitchFamily="18" charset="0"/>
              </a:rPr>
              <a:t>[4] Z. Chen, S. </a:t>
            </a:r>
            <a:r>
              <a:rPr lang="en-IN" sz="2800" dirty="0" err="1">
                <a:latin typeface="Times New Roman" panose="02020603050405020304" pitchFamily="18" charset="0"/>
                <a:cs typeface="Times New Roman" panose="02020603050405020304" pitchFamily="18" charset="0"/>
              </a:rPr>
              <a:t>Kommrusch</a:t>
            </a:r>
            <a:r>
              <a:rPr lang="en-IN" sz="2800" dirty="0">
                <a:latin typeface="Times New Roman" panose="02020603050405020304" pitchFamily="18" charset="0"/>
                <a:cs typeface="Times New Roman" panose="02020603050405020304" pitchFamily="18" charset="0"/>
              </a:rPr>
              <a:t>, and M. Tufano, </a:t>
            </a:r>
            <a:r>
              <a:rPr lang="en-IN" sz="2800" b="1" dirty="0">
                <a:latin typeface="Times New Roman" panose="02020603050405020304" pitchFamily="18" charset="0"/>
                <a:cs typeface="Times New Roman" panose="02020603050405020304" pitchFamily="18" charset="0"/>
              </a:rPr>
              <a:t>“Learning to Detect Code Smells with Deep Learning,”</a:t>
            </a:r>
            <a:r>
              <a:rPr lang="en-IN" sz="2800" dirty="0">
                <a:latin typeface="Times New Roman" panose="02020603050405020304" pitchFamily="18" charset="0"/>
                <a:cs typeface="Times New Roman" panose="02020603050405020304" pitchFamily="18" charset="0"/>
              </a:rPr>
              <a:t> in </a:t>
            </a:r>
            <a:r>
              <a:rPr lang="en-IN" sz="2800" i="1" dirty="0">
                <a:latin typeface="Times New Roman" panose="02020603050405020304" pitchFamily="18" charset="0"/>
                <a:cs typeface="Times New Roman" panose="02020603050405020304" pitchFamily="18" charset="0"/>
              </a:rPr>
              <a:t>Proceedings of the IEEE/ACM International Conference on Software Engineering (ICSE)</a:t>
            </a:r>
            <a:r>
              <a:rPr lang="en-IN" sz="2800" dirty="0">
                <a:latin typeface="Times New Roman" panose="02020603050405020304" pitchFamily="18" charset="0"/>
                <a:cs typeface="Times New Roman" panose="02020603050405020304" pitchFamily="18" charset="0"/>
              </a:rPr>
              <a:t>, 2019.</a:t>
            </a:r>
          </a:p>
        </p:txBody>
      </p:sp>
      <p:sp>
        <p:nvSpPr>
          <p:cNvPr id="12" name="Freeform 12"/>
          <p:cNvSpPr/>
          <p:nvPr/>
        </p:nvSpPr>
        <p:spPr>
          <a:xfrm>
            <a:off x="4288580" y="2071461"/>
            <a:ext cx="9228841" cy="6523595"/>
          </a:xfrm>
          <a:custGeom>
            <a:avLst/>
            <a:gdLst/>
            <a:ahLst/>
            <a:cxnLst/>
            <a:rect l="l" t="t" r="r" b="b"/>
            <a:pathLst>
              <a:path w="9228841" h="6523595">
                <a:moveTo>
                  <a:pt x="0" y="0"/>
                </a:moveTo>
                <a:lnTo>
                  <a:pt x="9228841" y="0"/>
                </a:lnTo>
                <a:lnTo>
                  <a:pt x="9228841" y="6523596"/>
                </a:lnTo>
                <a:lnTo>
                  <a:pt x="0" y="6523596"/>
                </a:lnTo>
                <a:lnTo>
                  <a:pt x="0" y="0"/>
                </a:lnTo>
                <a:close/>
              </a:path>
            </a:pathLst>
          </a:custGeom>
          <a:blipFill>
            <a:blip r:embed="rId5">
              <a:alphaModFix amt="9999"/>
            </a:blip>
            <a:stretch>
              <a:fillRect l="-3515" t="-23221" b="-23221"/>
            </a:stretch>
          </a:blipFill>
        </p:spPr>
        <p:txBody>
          <a:bodyPr/>
          <a:lstStyle/>
          <a:p>
            <a:endParaRPr lang="en-IN" dirty="0"/>
          </a:p>
        </p:txBody>
      </p:sp>
      <p:sp>
        <p:nvSpPr>
          <p:cNvPr id="13" name="Freeform 6">
            <a:extLst>
              <a:ext uri="{FF2B5EF4-FFF2-40B4-BE49-F238E27FC236}">
                <a16:creationId xmlns:a16="http://schemas.microsoft.com/office/drawing/2014/main" id="{53D9FBD5-CA87-7A84-7DFB-051501905E90}"/>
              </a:ext>
            </a:extLst>
          </p:cNvPr>
          <p:cNvSpPr/>
          <p:nvPr/>
        </p:nvSpPr>
        <p:spPr>
          <a:xfrm>
            <a:off x="15652205" y="-498470"/>
            <a:ext cx="2603115" cy="2603115"/>
          </a:xfrm>
          <a:custGeom>
            <a:avLst/>
            <a:gdLst/>
            <a:ahLst/>
            <a:cxnLst/>
            <a:rect l="l" t="t" r="r" b="b"/>
            <a:pathLst>
              <a:path w="2603115" h="2603115">
                <a:moveTo>
                  <a:pt x="0" y="0"/>
                </a:moveTo>
                <a:lnTo>
                  <a:pt x="2603114" y="0"/>
                </a:lnTo>
                <a:lnTo>
                  <a:pt x="2603114" y="2603115"/>
                </a:lnTo>
                <a:lnTo>
                  <a:pt x="0" y="2603115"/>
                </a:lnTo>
                <a:lnTo>
                  <a:pt x="0" y="0"/>
                </a:lnTo>
                <a:close/>
              </a:path>
            </a:pathLst>
          </a:custGeom>
          <a:blipFill>
            <a:blip r:embed="rId5"/>
            <a:stretch>
              <a:fillRect/>
            </a:stretch>
          </a:blipFill>
        </p:spPr>
        <p:txBody>
          <a:bodyPr/>
          <a:lstStyle/>
          <a:p>
            <a:endParaRPr lang="en-US" dirty="0"/>
          </a:p>
        </p:txBody>
      </p:sp>
      <p:sp>
        <p:nvSpPr>
          <p:cNvPr id="14" name="Freeform 7">
            <a:extLst>
              <a:ext uri="{FF2B5EF4-FFF2-40B4-BE49-F238E27FC236}">
                <a16:creationId xmlns:a16="http://schemas.microsoft.com/office/drawing/2014/main" id="{57A1044B-3E2F-99DD-EC48-178A5C35981E}"/>
              </a:ext>
            </a:extLst>
          </p:cNvPr>
          <p:cNvSpPr/>
          <p:nvPr/>
        </p:nvSpPr>
        <p:spPr>
          <a:xfrm>
            <a:off x="296467" y="423943"/>
            <a:ext cx="3094349" cy="1450639"/>
          </a:xfrm>
          <a:custGeom>
            <a:avLst/>
            <a:gdLst/>
            <a:ahLst/>
            <a:cxnLst/>
            <a:rect l="l" t="t" r="r" b="b"/>
            <a:pathLst>
              <a:path w="3094349" h="1450639">
                <a:moveTo>
                  <a:pt x="0" y="0"/>
                </a:moveTo>
                <a:lnTo>
                  <a:pt x="3094349" y="0"/>
                </a:lnTo>
                <a:lnTo>
                  <a:pt x="3094349" y="1450639"/>
                </a:lnTo>
                <a:lnTo>
                  <a:pt x="0" y="1450639"/>
                </a:lnTo>
                <a:lnTo>
                  <a:pt x="0" y="0"/>
                </a:lnTo>
                <a:close/>
              </a:path>
            </a:pathLst>
          </a:custGeom>
          <a:blipFill>
            <a:blip r:embed="rId6"/>
            <a:stretch>
              <a:fillRect/>
            </a:stretch>
          </a:blipFill>
        </p:spPr>
        <p:txBody>
          <a:bodyPr/>
          <a:lstStyle/>
          <a:p>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91</TotalTime>
  <Words>822</Words>
  <Application>Microsoft Office PowerPoint</Application>
  <PresentationFormat>Custom</PresentationFormat>
  <Paragraphs>46</Paragraphs>
  <Slides>6</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vt:i4>
      </vt:variant>
    </vt:vector>
  </HeadingPairs>
  <TitlesOfParts>
    <vt:vector size="13" baseType="lpstr">
      <vt:lpstr>Goudy Bold</vt:lpstr>
      <vt:lpstr>Neue Montreal Bold</vt:lpstr>
      <vt:lpstr>Canva Sans Bold</vt:lpstr>
      <vt:lpstr>Times New Roman</vt:lpstr>
      <vt:lpstr>Calibri</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RSOC-2026</dc:title>
  <dc:creator>Nihal Parkhi</dc:creator>
  <cp:lastModifiedBy>Tanmay Patil</cp:lastModifiedBy>
  <cp:revision>17</cp:revision>
  <dcterms:created xsi:type="dcterms:W3CDTF">2006-08-16T00:00:00Z</dcterms:created>
  <dcterms:modified xsi:type="dcterms:W3CDTF">2026-03-13T10:06:28Z</dcterms:modified>
  <dc:identifier>DAHDqI-E1TY</dc:identifier>
</cp:coreProperties>
</file>